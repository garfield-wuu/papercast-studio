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88825" cy="6858000"/>
  <p:notesSz cx="6858000" cy="91440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78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375E"/>
    <a:srgbClr val="FFFF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06" autoAdjust="0"/>
    <p:restoredTop sz="84732" autoAdjust="0"/>
  </p:normalViewPr>
  <p:slideViewPr>
    <p:cSldViewPr showGuides="1">
      <p:cViewPr varScale="1">
        <p:scale>
          <a:sx n="99" d="100"/>
          <a:sy n="99" d="100"/>
        </p:scale>
        <p:origin x="80" y="344"/>
      </p:cViewPr>
      <p:guideLst>
        <p:guide orient="horz" pos="2161"/>
        <p:guide pos="37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01" d="100"/>
          <a:sy n="101" d="100"/>
        </p:scale>
        <p:origin x="3184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A5EAB1-25CC-4F72-A2FC-3BABBE5A9D32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8BA23-BD00-4857-B603-DD487FFC39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40215" rtl="0" eaLnBrk="1" latinLnBrk="0" hangingPunct="1">
      <a:defRPr sz="1628" kern="1200">
        <a:solidFill>
          <a:schemeClr val="tx1"/>
        </a:solidFill>
        <a:latin typeface="+mn-lt"/>
        <a:ea typeface="+mn-ea"/>
        <a:cs typeface="+mn-cs"/>
      </a:defRPr>
    </a:lvl1pPr>
    <a:lvl2pPr marL="620108" algn="l" defTabSz="1240215" rtl="0" eaLnBrk="1" latinLnBrk="0" hangingPunct="1">
      <a:defRPr sz="1628" kern="1200">
        <a:solidFill>
          <a:schemeClr val="tx1"/>
        </a:solidFill>
        <a:latin typeface="+mn-lt"/>
        <a:ea typeface="+mn-ea"/>
        <a:cs typeface="+mn-cs"/>
      </a:defRPr>
    </a:lvl2pPr>
    <a:lvl3pPr marL="1240215" algn="l" defTabSz="1240215" rtl="0" eaLnBrk="1" latinLnBrk="0" hangingPunct="1">
      <a:defRPr sz="1628" kern="1200">
        <a:solidFill>
          <a:schemeClr val="tx1"/>
        </a:solidFill>
        <a:latin typeface="+mn-lt"/>
        <a:ea typeface="+mn-ea"/>
        <a:cs typeface="+mn-cs"/>
      </a:defRPr>
    </a:lvl3pPr>
    <a:lvl4pPr marL="1860323" algn="l" defTabSz="1240215" rtl="0" eaLnBrk="1" latinLnBrk="0" hangingPunct="1">
      <a:defRPr sz="1628" kern="1200">
        <a:solidFill>
          <a:schemeClr val="tx1"/>
        </a:solidFill>
        <a:latin typeface="+mn-lt"/>
        <a:ea typeface="+mn-ea"/>
        <a:cs typeface="+mn-cs"/>
      </a:defRPr>
    </a:lvl4pPr>
    <a:lvl5pPr marL="2480431" algn="l" defTabSz="1240215" rtl="0" eaLnBrk="1" latinLnBrk="0" hangingPunct="1">
      <a:defRPr sz="1628" kern="1200">
        <a:solidFill>
          <a:schemeClr val="tx1"/>
        </a:solidFill>
        <a:latin typeface="+mn-lt"/>
        <a:ea typeface="+mn-ea"/>
        <a:cs typeface="+mn-cs"/>
      </a:defRPr>
    </a:lvl5pPr>
    <a:lvl6pPr marL="3100538" algn="l" defTabSz="1240215" rtl="0" eaLnBrk="1" latinLnBrk="0" hangingPunct="1">
      <a:defRPr sz="1628" kern="1200">
        <a:solidFill>
          <a:schemeClr val="tx1"/>
        </a:solidFill>
        <a:latin typeface="+mn-lt"/>
        <a:ea typeface="+mn-ea"/>
        <a:cs typeface="+mn-cs"/>
      </a:defRPr>
    </a:lvl6pPr>
    <a:lvl7pPr marL="3720646" algn="l" defTabSz="1240215" rtl="0" eaLnBrk="1" latinLnBrk="0" hangingPunct="1">
      <a:defRPr sz="1628" kern="1200">
        <a:solidFill>
          <a:schemeClr val="tx1"/>
        </a:solidFill>
        <a:latin typeface="+mn-lt"/>
        <a:ea typeface="+mn-ea"/>
        <a:cs typeface="+mn-cs"/>
      </a:defRPr>
    </a:lvl7pPr>
    <a:lvl8pPr marL="4340754" algn="l" defTabSz="1240215" rtl="0" eaLnBrk="1" latinLnBrk="0" hangingPunct="1">
      <a:defRPr sz="1628" kern="1200">
        <a:solidFill>
          <a:schemeClr val="tx1"/>
        </a:solidFill>
        <a:latin typeface="+mn-lt"/>
        <a:ea typeface="+mn-ea"/>
        <a:cs typeface="+mn-cs"/>
      </a:defRPr>
    </a:lvl8pPr>
    <a:lvl9pPr marL="4960862" algn="l" defTabSz="1240215" rtl="0" eaLnBrk="1" latinLnBrk="0" hangingPunct="1">
      <a:defRPr sz="16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2ED3828F-1188-1012-DF89-7392A2B89AB2}"/>
              </a:ext>
            </a:extLst>
          </p:cNvPr>
          <p:cNvSpPr/>
          <p:nvPr userDrawn="1"/>
        </p:nvSpPr>
        <p:spPr>
          <a:xfrm>
            <a:off x="-1" y="1868851"/>
            <a:ext cx="12188825" cy="2925279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681" tIns="60840" rIns="121681" bIns="60840" rtlCol="0" anchor="ctr"/>
          <a:lstStyle/>
          <a:p>
            <a:pPr algn="ctr"/>
            <a:endParaRPr lang="zh-CN" altLang="en-US" sz="2938" dirty="0">
              <a:ea typeface="微软雅黑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CE9F878-83CB-9083-8979-4E8F1D7A5642}"/>
              </a:ext>
            </a:extLst>
          </p:cNvPr>
          <p:cNvCxnSpPr/>
          <p:nvPr userDrawn="1"/>
        </p:nvCxnSpPr>
        <p:spPr>
          <a:xfrm>
            <a:off x="2392383" y="3331491"/>
            <a:ext cx="740405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5">
            <a:extLst>
              <a:ext uri="{FF2B5EF4-FFF2-40B4-BE49-F238E27FC236}">
                <a16:creationId xmlns:a16="http://schemas.microsoft.com/office/drawing/2014/main" id="{132C690D-8AC6-C104-1EAA-CA39BA9722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349" y="140754"/>
            <a:ext cx="1758151" cy="1727125"/>
          </a:xfrm>
          <a:prstGeom prst="rect">
            <a:avLst/>
          </a:prstGeom>
        </p:spPr>
      </p:pic>
      <p:sp>
        <p:nvSpPr>
          <p:cNvPr id="22" name="Title">
            <a:extLst>
              <a:ext uri="{FF2B5EF4-FFF2-40B4-BE49-F238E27FC236}">
                <a16:creationId xmlns:a16="http://schemas.microsoft.com/office/drawing/2014/main" id="{7A0C79DE-DBE8-D521-FFD0-F70E5455E3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824" y="2355231"/>
            <a:ext cx="10801199" cy="886084"/>
          </a:xfrm>
        </p:spPr>
        <p:txBody>
          <a:bodyPr/>
          <a:lstStyle>
            <a:lvl1pPr algn="ctr">
              <a:buNone/>
              <a:defRPr lang="zh-CN" altLang="en-US" sz="2708" b="1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algn="ctr"/>
            <a:endParaRPr lang="zh-CN" altLang="en-US" sz="2708" b="1" dirty="0" err="1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Title_chinese">
            <a:extLst>
              <a:ext uri="{FF2B5EF4-FFF2-40B4-BE49-F238E27FC236}">
                <a16:creationId xmlns:a16="http://schemas.microsoft.com/office/drawing/2014/main" id="{505AD661-3C63-162F-3AD9-3F6CC5CC63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2824" y="3491887"/>
            <a:ext cx="10801199" cy="976259"/>
          </a:xfrm>
        </p:spPr>
        <p:txBody>
          <a:bodyPr/>
          <a:lstStyle>
            <a:lvl1pPr algn="ctr">
              <a:buNone/>
              <a:defRPr lang="zh-CN" altLang="en-US" sz="3250" b="1" kern="1200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algn="ctr"/>
            <a:endParaRPr lang="zh-CN" altLang="en-US" sz="2708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Reporter">
            <a:extLst>
              <a:ext uri="{FF2B5EF4-FFF2-40B4-BE49-F238E27FC236}">
                <a16:creationId xmlns:a16="http://schemas.microsoft.com/office/drawing/2014/main" id="{89814E04-7770-211B-836A-7E556CFE2C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17948" y="4884307"/>
            <a:ext cx="9001000" cy="360363"/>
          </a:xfrm>
        </p:spPr>
        <p:txBody>
          <a:bodyPr/>
          <a:lstStyle>
            <a:lvl1pPr algn="ctr">
              <a:buNone/>
              <a:defRPr lang="zh-CN" altLang="en-US" sz="2437" kern="1200" dirty="0" smtClean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defRPr lang="zh-CN" altLang="en-US" sz="2437" kern="1200" dirty="0" smtClean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>
              <a:defRPr lang="zh-CN" altLang="en-US" sz="2437" kern="1200" dirty="0" smtClean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>
              <a:defRPr lang="zh-CN" altLang="en-US" sz="2437" kern="1200" dirty="0" smtClean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>
              <a:defRPr lang="zh-CN" altLang="en-US" sz="2437" kern="1200" dirty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endParaRPr lang="en-US" altLang="zh-CN" sz="2437" dirty="0">
              <a:solidFill>
                <a:srgbClr val="1737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Date">
            <a:extLst>
              <a:ext uri="{FF2B5EF4-FFF2-40B4-BE49-F238E27FC236}">
                <a16:creationId xmlns:a16="http://schemas.microsoft.com/office/drawing/2014/main" id="{9B38BAC3-D506-5132-79B2-524A186E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78286" y="6381328"/>
            <a:ext cx="2988333" cy="360363"/>
          </a:xfrm>
        </p:spPr>
        <p:txBody>
          <a:bodyPr/>
          <a:lstStyle>
            <a:lvl1pPr algn="ctr">
              <a:buNone/>
              <a:defRPr lang="zh-CN" altLang="en-US" sz="2437" kern="1200" dirty="0" smtClean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defRPr lang="zh-CN" altLang="en-US" sz="2437" kern="1200" dirty="0" smtClean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>
              <a:defRPr lang="zh-CN" altLang="en-US" sz="2437" kern="1200" dirty="0" smtClean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>
              <a:defRPr lang="zh-CN" altLang="en-US" sz="2437" kern="1200" dirty="0" smtClean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>
              <a:defRPr lang="zh-CN" altLang="en-US" sz="2437" kern="1200" dirty="0">
                <a:solidFill>
                  <a:srgbClr val="1737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endParaRPr lang="en-US" altLang="zh-CN" sz="2437" dirty="0">
              <a:solidFill>
                <a:srgbClr val="1737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0568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16D8BB51-9AE1-9B01-B6FE-D3BBE1E70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276" y="44624"/>
            <a:ext cx="2998068" cy="650619"/>
          </a:xfrm>
          <a:prstGeom prst="rect">
            <a:avLst/>
          </a:prstGeom>
        </p:spPr>
      </p:pic>
      <p:sp>
        <p:nvSpPr>
          <p:cNvPr id="3" name="Bullets">
            <a:extLst>
              <a:ext uri="{FF2B5EF4-FFF2-40B4-BE49-F238E27FC236}">
                <a16:creationId xmlns:a16="http://schemas.microsoft.com/office/drawing/2014/main" id="{41646A90-9A8C-5357-6823-0915BA466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0000" y="2060848"/>
            <a:ext cx="9648824" cy="403264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7F03C3C-8345-AE11-5974-5DB0244845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9999" y="1052513"/>
            <a:ext cx="9648825" cy="863600"/>
          </a:xfrm>
        </p:spPr>
        <p:txBody>
          <a:bodyPr>
            <a:normAutofit/>
          </a:bodyPr>
          <a:lstStyle>
            <a:lvl1pPr algn="ctr">
              <a:defRPr sz="3600" b="1"/>
            </a:lvl1pPr>
            <a:lvl2pPr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80926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ournal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ullets">
            <a:extLst>
              <a:ext uri="{FF2B5EF4-FFF2-40B4-BE49-F238E27FC236}">
                <a16:creationId xmlns:a16="http://schemas.microsoft.com/office/drawing/2014/main" id="{511867E2-C1B6-2091-6A0D-C4E19E3ADF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818" y="5301208"/>
            <a:ext cx="11274209" cy="1223963"/>
          </a:xfrm>
        </p:spPr>
        <p:txBody>
          <a:bodyPr/>
          <a:lstStyle>
            <a:lvl1pPr marL="228531" marR="0" indent="-228531" algn="l" defTabSz="9141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altLang="zh-CN" sz="1400" b="0" i="0" u="none" strike="noStrike" kern="12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defRPr lang="zh-CN" altLang="en-US" sz="1400" b="0" i="0" u="none" strike="noStrike" kern="1200" dirty="0" smtClean="0">
                <a:solidFill>
                  <a:schemeClr val="tx1"/>
                </a:solidFill>
                <a:effectLst/>
                <a:latin typeface="HelveticaNeue Regular"/>
                <a:ea typeface="+mn-ea"/>
                <a:cs typeface="+mn-cs"/>
              </a:defRPr>
            </a:lvl2pPr>
            <a:lvl3pPr>
              <a:defRPr lang="zh-CN" altLang="en-US" sz="1400" b="0" i="0" u="none" strike="noStrike" kern="1200" dirty="0" smtClean="0">
                <a:solidFill>
                  <a:schemeClr val="tx1"/>
                </a:solidFill>
                <a:effectLst/>
                <a:latin typeface="HelveticaNeue Regular"/>
                <a:ea typeface="+mn-ea"/>
                <a:cs typeface="+mn-cs"/>
              </a:defRPr>
            </a:lvl3pPr>
            <a:lvl4pPr>
              <a:defRPr lang="zh-CN" altLang="en-US" sz="1400" b="0" i="0" u="none" strike="noStrike" kern="1200" dirty="0" smtClean="0">
                <a:solidFill>
                  <a:schemeClr val="tx1"/>
                </a:solidFill>
                <a:effectLst/>
                <a:latin typeface="HelveticaNeue Regular"/>
                <a:ea typeface="+mn-ea"/>
                <a:cs typeface="+mn-cs"/>
              </a:defRPr>
            </a:lvl4pPr>
          </a:lstStyle>
          <a:p>
            <a:endParaRPr lang="pt-PT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F756EB-37FE-150B-E289-A936B3730CB8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29CB1B-331D-EB9A-0757-74B9694A6134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pic>
        <p:nvPicPr>
          <p:cNvPr id="5" name="图片 1" descr="数字1">
            <a:extLst>
              <a:ext uri="{FF2B5EF4-FFF2-40B4-BE49-F238E27FC236}">
                <a16:creationId xmlns:a16="http://schemas.microsoft.com/office/drawing/2014/main" id="{001C93EF-6E42-3F5E-CAF6-EFF4CED988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2963" y="0"/>
            <a:ext cx="1125861" cy="1125861"/>
          </a:xfrm>
          <a:prstGeom prst="rect">
            <a:avLst/>
          </a:prstGeom>
        </p:spPr>
      </p:pic>
      <p:sp>
        <p:nvSpPr>
          <p:cNvPr id="6" name="Subtitle">
            <a:extLst>
              <a:ext uri="{FF2B5EF4-FFF2-40B4-BE49-F238E27FC236}">
                <a16:creationId xmlns:a16="http://schemas.microsoft.com/office/drawing/2014/main" id="{BB485E8A-4A24-5DC2-CF26-6D8C95B6A0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Image">
            <a:extLst>
              <a:ext uri="{FF2B5EF4-FFF2-40B4-BE49-F238E27FC236}">
                <a16:creationId xmlns:a16="http://schemas.microsoft.com/office/drawing/2014/main" id="{9A1ED531-931A-76A2-E208-0FBE69799D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125" y="908050"/>
            <a:ext cx="11201400" cy="4176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81370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233CAFF-726A-1335-DD7A-357564DBDCDB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B8CC78-A4C0-162B-5B0A-764E3582DA0E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pic>
        <p:nvPicPr>
          <p:cNvPr id="10" name="图片 3" descr="数字2">
            <a:extLst>
              <a:ext uri="{FF2B5EF4-FFF2-40B4-BE49-F238E27FC236}">
                <a16:creationId xmlns:a16="http://schemas.microsoft.com/office/drawing/2014/main" id="{42878817-6329-0404-1009-5C2FD2147C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0652" y="-1"/>
            <a:ext cx="1052737" cy="1052737"/>
          </a:xfrm>
          <a:prstGeom prst="rect">
            <a:avLst/>
          </a:prstGeom>
        </p:spPr>
      </p:pic>
      <p:sp>
        <p:nvSpPr>
          <p:cNvPr id="12" name="Image">
            <a:extLst>
              <a:ext uri="{FF2B5EF4-FFF2-40B4-BE49-F238E27FC236}">
                <a16:creationId xmlns:a16="http://schemas.microsoft.com/office/drawing/2014/main" id="{88E02529-C16A-132C-EA4E-CAD12F0C54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10436" y="1052737"/>
            <a:ext cx="5724017" cy="547188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Bullets">
            <a:extLst>
              <a:ext uri="{FF2B5EF4-FFF2-40B4-BE49-F238E27FC236}">
                <a16:creationId xmlns:a16="http://schemas.microsoft.com/office/drawing/2014/main" id="{892A7DB0-7D29-25CD-31C2-4C0BFC29D2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1938" y="1052736"/>
            <a:ext cx="5832475" cy="547188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F2C5D50-6122-3DEF-5166-9F43FD03CE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452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_Wide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233CAFF-726A-1335-DD7A-357564DBDCDB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B8CC78-A4C0-162B-5B0A-764E3582DA0E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pic>
        <p:nvPicPr>
          <p:cNvPr id="10" name="图片 3" descr="数字2">
            <a:extLst>
              <a:ext uri="{FF2B5EF4-FFF2-40B4-BE49-F238E27FC236}">
                <a16:creationId xmlns:a16="http://schemas.microsoft.com/office/drawing/2014/main" id="{42878817-6329-0404-1009-5C2FD2147C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0652" y="-1"/>
            <a:ext cx="1052737" cy="1052737"/>
          </a:xfrm>
          <a:prstGeom prst="rect">
            <a:avLst/>
          </a:prstGeom>
        </p:spPr>
      </p:pic>
      <p:sp>
        <p:nvSpPr>
          <p:cNvPr id="12" name="Image">
            <a:extLst>
              <a:ext uri="{FF2B5EF4-FFF2-40B4-BE49-F238E27FC236}">
                <a16:creationId xmlns:a16="http://schemas.microsoft.com/office/drawing/2014/main" id="{88E02529-C16A-132C-EA4E-CAD12F0C54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1938" y="3429000"/>
            <a:ext cx="11772515" cy="309562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Bullets">
            <a:extLst>
              <a:ext uri="{FF2B5EF4-FFF2-40B4-BE49-F238E27FC236}">
                <a16:creationId xmlns:a16="http://schemas.microsoft.com/office/drawing/2014/main" id="{892A7DB0-7D29-25CD-31C2-4C0BFC29D2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1938" y="1052737"/>
            <a:ext cx="11772515" cy="23042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F2C5D50-6122-3DEF-5166-9F43FD03CE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946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_Imag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233CAFF-726A-1335-DD7A-357564DBDCDB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B8CC78-A4C0-162B-5B0A-764E3582DA0E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pic>
        <p:nvPicPr>
          <p:cNvPr id="10" name="图片 3" descr="数字2">
            <a:extLst>
              <a:ext uri="{FF2B5EF4-FFF2-40B4-BE49-F238E27FC236}">
                <a16:creationId xmlns:a16="http://schemas.microsoft.com/office/drawing/2014/main" id="{42878817-6329-0404-1009-5C2FD2147C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0652" y="-1"/>
            <a:ext cx="1052737" cy="1052737"/>
          </a:xfrm>
          <a:prstGeom prst="rect">
            <a:avLst/>
          </a:prstGeom>
        </p:spPr>
      </p:pic>
      <p:sp>
        <p:nvSpPr>
          <p:cNvPr id="14" name="Image">
            <a:extLst>
              <a:ext uri="{FF2B5EF4-FFF2-40B4-BE49-F238E27FC236}">
                <a16:creationId xmlns:a16="http://schemas.microsoft.com/office/drawing/2014/main" id="{892A7DB0-7D29-25CD-31C2-4C0BFC29D2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1938" y="1052736"/>
            <a:ext cx="11665122" cy="547188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</a:lstStyle>
          <a:p>
            <a:pPr lvl="0"/>
            <a:endParaRPr lang="zh-CN" alt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75D45CE-50C8-FACE-4AE5-4D00BD16FF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35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_Text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233CAFF-726A-1335-DD7A-357564DBDCDB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B8CC78-A4C0-162B-5B0A-764E3582DA0E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pic>
        <p:nvPicPr>
          <p:cNvPr id="10" name="图片 3" descr="数字2">
            <a:extLst>
              <a:ext uri="{FF2B5EF4-FFF2-40B4-BE49-F238E27FC236}">
                <a16:creationId xmlns:a16="http://schemas.microsoft.com/office/drawing/2014/main" id="{42878817-6329-0404-1009-5C2FD2147C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0652" y="-1"/>
            <a:ext cx="1052737" cy="1052737"/>
          </a:xfrm>
          <a:prstGeom prst="rect">
            <a:avLst/>
          </a:prstGeom>
        </p:spPr>
      </p:pic>
      <p:sp>
        <p:nvSpPr>
          <p:cNvPr id="14" name="Bullets">
            <a:extLst>
              <a:ext uri="{FF2B5EF4-FFF2-40B4-BE49-F238E27FC236}">
                <a16:creationId xmlns:a16="http://schemas.microsoft.com/office/drawing/2014/main" id="{892A7DB0-7D29-25CD-31C2-4C0BFC29D2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1938" y="1052736"/>
            <a:ext cx="11665122" cy="547188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</a:lstStyle>
          <a:p>
            <a:pPr lvl="0"/>
            <a:endParaRPr lang="zh-CN" alt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75D45CE-50C8-FACE-4AE5-4D00BD16FF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931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ho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pic>
        <p:nvPicPr>
          <p:cNvPr id="9" name="图片 4" descr="数字3">
            <a:extLst>
              <a:ext uri="{FF2B5EF4-FFF2-40B4-BE49-F238E27FC236}">
                <a16:creationId xmlns:a16="http://schemas.microsoft.com/office/drawing/2014/main" id="{343A32AE-7B25-C3CD-FCB3-E48696DDF4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3269" y="44624"/>
            <a:ext cx="1080120" cy="1080120"/>
          </a:xfrm>
          <a:prstGeom prst="rect">
            <a:avLst/>
          </a:prstGeom>
        </p:spPr>
      </p:pic>
      <p:sp>
        <p:nvSpPr>
          <p:cNvPr id="10" name="Image">
            <a:extLst>
              <a:ext uri="{FF2B5EF4-FFF2-40B4-BE49-F238E27FC236}">
                <a16:creationId xmlns:a16="http://schemas.microsoft.com/office/drawing/2014/main" id="{B1F9197E-0221-9983-DD2A-F1EF7C9059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10436" y="1052737"/>
            <a:ext cx="5724017" cy="547188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Bullets">
            <a:extLst>
              <a:ext uri="{FF2B5EF4-FFF2-40B4-BE49-F238E27FC236}">
                <a16:creationId xmlns:a16="http://schemas.microsoft.com/office/drawing/2014/main" id="{1BF65B38-25CA-0293-049B-C0B10526B55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1938" y="1052736"/>
            <a:ext cx="5832475" cy="547188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FC2B57F-6BA1-90AC-F3AB-8D18D1A2D39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64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hods_Wide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pic>
        <p:nvPicPr>
          <p:cNvPr id="9" name="图片 4" descr="数字3">
            <a:extLst>
              <a:ext uri="{FF2B5EF4-FFF2-40B4-BE49-F238E27FC236}">
                <a16:creationId xmlns:a16="http://schemas.microsoft.com/office/drawing/2014/main" id="{343A32AE-7B25-C3CD-FCB3-E48696DDF4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3269" y="44624"/>
            <a:ext cx="1080120" cy="1080120"/>
          </a:xfrm>
          <a:prstGeom prst="rect">
            <a:avLst/>
          </a:prstGeom>
        </p:spPr>
      </p:pic>
      <p:sp>
        <p:nvSpPr>
          <p:cNvPr id="3" name="Bullets">
            <a:extLst>
              <a:ext uri="{FF2B5EF4-FFF2-40B4-BE49-F238E27FC236}">
                <a16:creationId xmlns:a16="http://schemas.microsoft.com/office/drawing/2014/main" id="{82580B6F-2D59-646A-5C89-72EC3C1B24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981075"/>
            <a:ext cx="11593513" cy="266394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97646A1-A7D9-4B9C-A4DB-2AD193E731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Image">
            <a:extLst>
              <a:ext uri="{FF2B5EF4-FFF2-40B4-BE49-F238E27FC236}">
                <a16:creationId xmlns:a16="http://schemas.microsoft.com/office/drawing/2014/main" id="{C1629BF3-8595-8F9F-5B83-F085F318127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3375" y="3717033"/>
            <a:ext cx="11593513" cy="2736156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41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hods_Imag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pic>
        <p:nvPicPr>
          <p:cNvPr id="9" name="图片 4" descr="数字3">
            <a:extLst>
              <a:ext uri="{FF2B5EF4-FFF2-40B4-BE49-F238E27FC236}">
                <a16:creationId xmlns:a16="http://schemas.microsoft.com/office/drawing/2014/main" id="{343A32AE-7B25-C3CD-FCB3-E48696DDF4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3269" y="44624"/>
            <a:ext cx="1080120" cy="1080120"/>
          </a:xfrm>
          <a:prstGeom prst="rect">
            <a:avLst/>
          </a:prstGeom>
        </p:spPr>
      </p:pic>
      <p:sp>
        <p:nvSpPr>
          <p:cNvPr id="3" name="Image">
            <a:extLst>
              <a:ext uri="{FF2B5EF4-FFF2-40B4-BE49-F238E27FC236}">
                <a16:creationId xmlns:a16="http://schemas.microsoft.com/office/drawing/2014/main" id="{82580B6F-2D59-646A-5C89-72EC3C1B24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981075"/>
            <a:ext cx="11593513" cy="5616575"/>
          </a:xfrm>
        </p:spPr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814AD2CF-BCB1-47FD-F0DC-E9E71E95E1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36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hods_Text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pic>
        <p:nvPicPr>
          <p:cNvPr id="9" name="图片 4" descr="数字3">
            <a:extLst>
              <a:ext uri="{FF2B5EF4-FFF2-40B4-BE49-F238E27FC236}">
                <a16:creationId xmlns:a16="http://schemas.microsoft.com/office/drawing/2014/main" id="{343A32AE-7B25-C3CD-FCB3-E48696DDF4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3269" y="44624"/>
            <a:ext cx="1080120" cy="1080120"/>
          </a:xfrm>
          <a:prstGeom prst="rect">
            <a:avLst/>
          </a:prstGeom>
        </p:spPr>
      </p:pic>
      <p:sp>
        <p:nvSpPr>
          <p:cNvPr id="3" name="Bullets">
            <a:extLst>
              <a:ext uri="{FF2B5EF4-FFF2-40B4-BE49-F238E27FC236}">
                <a16:creationId xmlns:a16="http://schemas.microsoft.com/office/drawing/2014/main" id="{82580B6F-2D59-646A-5C89-72EC3C1B24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981075"/>
            <a:ext cx="11593513" cy="56165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814AD2CF-BCB1-47FD-F0DC-E9E71E95E1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790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ri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BulletsLeft">
            <a:extLst>
              <a:ext uri="{FF2B5EF4-FFF2-40B4-BE49-F238E27FC236}">
                <a16:creationId xmlns:a16="http://schemas.microsoft.com/office/drawing/2014/main" id="{82580B6F-2D59-646A-5C89-72EC3C1B24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981075"/>
            <a:ext cx="5905053" cy="56165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</p:txBody>
      </p:sp>
      <p:sp>
        <p:nvSpPr>
          <p:cNvPr id="10" name="BulletsRight">
            <a:extLst>
              <a:ext uri="{FF2B5EF4-FFF2-40B4-BE49-F238E27FC236}">
                <a16:creationId xmlns:a16="http://schemas.microsoft.com/office/drawing/2014/main" id="{28F32B73-4F84-8ED6-BB32-4E7F69ECF42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10313" y="981075"/>
            <a:ext cx="5616575" cy="5616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pic>
        <p:nvPicPr>
          <p:cNvPr id="2" name="图片 5" descr="数字4">
            <a:extLst>
              <a:ext uri="{FF2B5EF4-FFF2-40B4-BE49-F238E27FC236}">
                <a16:creationId xmlns:a16="http://schemas.microsoft.com/office/drawing/2014/main" id="{157FB3C6-CD84-2AD8-8CEE-025AB8316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2964" y="0"/>
            <a:ext cx="1125436" cy="1125436"/>
          </a:xfrm>
          <a:prstGeom prst="rect">
            <a:avLst/>
          </a:prstGeom>
        </p:spPr>
      </p:pic>
      <p:sp>
        <p:nvSpPr>
          <p:cNvPr id="5" name="Subtitle">
            <a:extLst>
              <a:ext uri="{FF2B5EF4-FFF2-40B4-BE49-F238E27FC236}">
                <a16:creationId xmlns:a16="http://schemas.microsoft.com/office/drawing/2014/main" id="{8C972C78-2842-7286-F86C-1375E41862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8213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riment_Wide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82580B6F-2D59-646A-5C89-72EC3C1B24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981075"/>
            <a:ext cx="11449669" cy="280796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</p:txBody>
      </p:sp>
      <p:pic>
        <p:nvPicPr>
          <p:cNvPr id="2" name="图片 5" descr="数字4">
            <a:extLst>
              <a:ext uri="{FF2B5EF4-FFF2-40B4-BE49-F238E27FC236}">
                <a16:creationId xmlns:a16="http://schemas.microsoft.com/office/drawing/2014/main" id="{157FB3C6-CD84-2AD8-8CEE-025AB8316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2964" y="0"/>
            <a:ext cx="1125436" cy="1125436"/>
          </a:xfrm>
          <a:prstGeom prst="rect">
            <a:avLst/>
          </a:prstGeom>
        </p:spPr>
      </p:pic>
      <p:sp>
        <p:nvSpPr>
          <p:cNvPr id="9" name="Image">
            <a:extLst>
              <a:ext uri="{FF2B5EF4-FFF2-40B4-BE49-F238E27FC236}">
                <a16:creationId xmlns:a16="http://schemas.microsoft.com/office/drawing/2014/main" id="{E62C8759-4500-2BD0-6248-97101D13A0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3375" y="3933057"/>
            <a:ext cx="11449050" cy="2664594"/>
          </a:xfrm>
        </p:spPr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754C82FA-A568-1BCD-1479-0D5CAC86E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174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riment_Imag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Image">
            <a:extLst>
              <a:ext uri="{FF2B5EF4-FFF2-40B4-BE49-F238E27FC236}">
                <a16:creationId xmlns:a16="http://schemas.microsoft.com/office/drawing/2014/main" id="{82580B6F-2D59-646A-5C89-72EC3C1B24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765" y="1052736"/>
            <a:ext cx="11737304" cy="5664828"/>
          </a:xfrm>
        </p:spPr>
        <p:txBody>
          <a:bodyPr/>
          <a:lstStyle>
            <a:lvl3pPr>
              <a:buNone/>
              <a:defRPr/>
            </a:lvl3pPr>
          </a:lstStyle>
          <a:p>
            <a:pPr lvl="0"/>
            <a:endParaRPr lang="zh-CN" altLang="en-US" dirty="0"/>
          </a:p>
        </p:txBody>
      </p:sp>
      <p:pic>
        <p:nvPicPr>
          <p:cNvPr id="2" name="图片 5" descr="数字4">
            <a:extLst>
              <a:ext uri="{FF2B5EF4-FFF2-40B4-BE49-F238E27FC236}">
                <a16:creationId xmlns:a16="http://schemas.microsoft.com/office/drawing/2014/main" id="{157FB3C6-CD84-2AD8-8CEE-025AB8316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2964" y="0"/>
            <a:ext cx="1125436" cy="1125436"/>
          </a:xfrm>
          <a:prstGeom prst="rect">
            <a:avLst/>
          </a:prstGeom>
        </p:spPr>
      </p:pic>
      <p:sp>
        <p:nvSpPr>
          <p:cNvPr id="8" name="Subtitle">
            <a:extLst>
              <a:ext uri="{FF2B5EF4-FFF2-40B4-BE49-F238E27FC236}">
                <a16:creationId xmlns:a16="http://schemas.microsoft.com/office/drawing/2014/main" id="{9C04B243-1617-68AF-C055-6173BCE1A8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544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riment_Text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82580B6F-2D59-646A-5C89-72EC3C1B24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765" y="1052736"/>
            <a:ext cx="11737304" cy="5664828"/>
          </a:xfrm>
        </p:spPr>
        <p:txBody>
          <a:bodyPr/>
          <a:lstStyle>
            <a:lvl3pPr>
              <a:buNone/>
              <a:defRPr/>
            </a:lvl3pPr>
          </a:lstStyle>
          <a:p>
            <a:pPr lvl="0"/>
            <a:endParaRPr lang="zh-CN" altLang="en-US" dirty="0"/>
          </a:p>
        </p:txBody>
      </p:sp>
      <p:pic>
        <p:nvPicPr>
          <p:cNvPr id="2" name="图片 5" descr="数字4">
            <a:extLst>
              <a:ext uri="{FF2B5EF4-FFF2-40B4-BE49-F238E27FC236}">
                <a16:creationId xmlns:a16="http://schemas.microsoft.com/office/drawing/2014/main" id="{157FB3C6-CD84-2AD8-8CEE-025AB8316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2964" y="0"/>
            <a:ext cx="1125436" cy="1125436"/>
          </a:xfrm>
          <a:prstGeom prst="rect">
            <a:avLst/>
          </a:prstGeom>
        </p:spPr>
      </p:pic>
      <p:sp>
        <p:nvSpPr>
          <p:cNvPr id="8" name="Subtitle">
            <a:extLst>
              <a:ext uri="{FF2B5EF4-FFF2-40B4-BE49-F238E27FC236}">
                <a16:creationId xmlns:a16="http://schemas.microsoft.com/office/drawing/2014/main" id="{9C04B243-1617-68AF-C055-6173BCE1A8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9376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82580B6F-2D59-646A-5C89-72EC3C1B24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981075"/>
            <a:ext cx="5473005" cy="573648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</p:txBody>
      </p:sp>
      <p:pic>
        <p:nvPicPr>
          <p:cNvPr id="2" name="图片 5" descr="数字4">
            <a:extLst>
              <a:ext uri="{FF2B5EF4-FFF2-40B4-BE49-F238E27FC236}">
                <a16:creationId xmlns:a16="http://schemas.microsoft.com/office/drawing/2014/main" id="{157FB3C6-CD84-2AD8-8CEE-025AB8316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2964" y="0"/>
            <a:ext cx="1125436" cy="1125436"/>
          </a:xfrm>
          <a:prstGeom prst="rect">
            <a:avLst/>
          </a:prstGeom>
        </p:spPr>
      </p:pic>
      <p:sp>
        <p:nvSpPr>
          <p:cNvPr id="5" name="Image">
            <a:extLst>
              <a:ext uri="{FF2B5EF4-FFF2-40B4-BE49-F238E27FC236}">
                <a16:creationId xmlns:a16="http://schemas.microsoft.com/office/drawing/2014/main" id="{89074DE3-7A63-FA6F-0B3C-90346D70758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78388" y="981075"/>
            <a:ext cx="5904037" cy="567213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9374FCDF-D8BD-8458-8549-C2EACD2888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116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u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82580B6F-2D59-646A-5C89-72EC3C1B24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981075"/>
            <a:ext cx="11521677" cy="573648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8CB764D-AFAB-3F71-5C9E-035F94A05A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2964" y="57770"/>
            <a:ext cx="1125861" cy="1132458"/>
          </a:xfrm>
          <a:prstGeom prst="rect">
            <a:avLst/>
          </a:prstGeom>
        </p:spPr>
      </p:pic>
      <p:sp>
        <p:nvSpPr>
          <p:cNvPr id="2" name="Subtitle">
            <a:extLst>
              <a:ext uri="{FF2B5EF4-FFF2-40B4-BE49-F238E27FC236}">
                <a16:creationId xmlns:a16="http://schemas.microsoft.com/office/drawing/2014/main" id="{8A66047E-5BFB-8B77-47A3-5F457498FD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2407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ussion_Image&amp;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54FEEC-8B5F-4767-4504-D7D436E0D304}"/>
              </a:ext>
            </a:extLst>
          </p:cNvPr>
          <p:cNvSpPr/>
          <p:nvPr userDrawn="1"/>
        </p:nvSpPr>
        <p:spPr>
          <a:xfrm>
            <a:off x="0" y="140436"/>
            <a:ext cx="477788" cy="55226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A3409C-4161-E9E3-E638-D9065FFD162B}"/>
              </a:ext>
            </a:extLst>
          </p:cNvPr>
          <p:cNvSpPr/>
          <p:nvPr userDrawn="1"/>
        </p:nvSpPr>
        <p:spPr>
          <a:xfrm>
            <a:off x="549796" y="140436"/>
            <a:ext cx="216024" cy="5522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389" tIns="33694" rIns="67389" bIns="33694" rtlCol="0" anchor="ctr"/>
          <a:lstStyle/>
          <a:p>
            <a:pPr algn="ctr" defTabSz="673100"/>
            <a:endParaRPr lang="zh-CN" altLang="en-US" sz="1700" dirty="0">
              <a:solidFill>
                <a:srgbClr val="4E639C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82580B6F-2D59-646A-5C89-72EC3C1B24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1764" y="981075"/>
            <a:ext cx="5545013" cy="56824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8CB764D-AFAB-3F71-5C9E-035F94A05A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2964" y="57770"/>
            <a:ext cx="1125861" cy="1132458"/>
          </a:xfrm>
          <a:prstGeom prst="rect">
            <a:avLst/>
          </a:prstGeom>
        </p:spPr>
      </p:pic>
      <p:sp>
        <p:nvSpPr>
          <p:cNvPr id="2" name="Subtitle">
            <a:extLst>
              <a:ext uri="{FF2B5EF4-FFF2-40B4-BE49-F238E27FC236}">
                <a16:creationId xmlns:a16="http://schemas.microsoft.com/office/drawing/2014/main" id="{8A66047E-5BFB-8B77-47A3-5F457498FD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9836" y="194452"/>
            <a:ext cx="6121400" cy="444227"/>
          </a:xfrm>
        </p:spPr>
        <p:txBody>
          <a:bodyPr/>
          <a:lstStyle>
            <a:lvl1pPr>
              <a:buNone/>
              <a:defRPr/>
            </a:lvl1pPr>
          </a:lstStyle>
          <a:p>
            <a:pPr defTabSz="638175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Image">
            <a:extLst>
              <a:ext uri="{FF2B5EF4-FFF2-40B4-BE49-F238E27FC236}">
                <a16:creationId xmlns:a16="http://schemas.microsoft.com/office/drawing/2014/main" id="{FE00173C-95FE-4DDA-6010-B03334D25E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9950" y="981075"/>
            <a:ext cx="5905500" cy="5683250"/>
          </a:xfrm>
        </p:spPr>
        <p:txBody>
          <a:bodyPr/>
          <a:lstStyle/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06293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38DA36-5165-40E6-5994-1D0BF58CBFDF}"/>
              </a:ext>
            </a:extLst>
          </p:cNvPr>
          <p:cNvSpPr/>
          <p:nvPr userDrawn="1"/>
        </p:nvSpPr>
        <p:spPr>
          <a:xfrm>
            <a:off x="0" y="2020115"/>
            <a:ext cx="12188825" cy="2817769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858" tIns="44929" rIns="89858" bIns="44929"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BF962C-8897-B738-6DEF-8682AC431BCC}"/>
              </a:ext>
            </a:extLst>
          </p:cNvPr>
          <p:cNvSpPr/>
          <p:nvPr userDrawn="1"/>
        </p:nvSpPr>
        <p:spPr>
          <a:xfrm>
            <a:off x="2479385" y="2693675"/>
            <a:ext cx="7230053" cy="829399"/>
          </a:xfrm>
          <a:prstGeom prst="rect">
            <a:avLst/>
          </a:prstGeom>
        </p:spPr>
        <p:txBody>
          <a:bodyPr wrap="square" lIns="89858" tIns="44929" rIns="89858" bIns="44929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D4AAA7A-1811-3335-D274-A02A1417B04A}"/>
              </a:ext>
            </a:extLst>
          </p:cNvPr>
          <p:cNvCxnSpPr>
            <a:cxnSpLocks/>
          </p:cNvCxnSpPr>
          <p:nvPr userDrawn="1"/>
        </p:nvCxnSpPr>
        <p:spPr>
          <a:xfrm>
            <a:off x="1917948" y="4005064"/>
            <a:ext cx="856757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圆角矩形 11">
            <a:extLst>
              <a:ext uri="{FF2B5EF4-FFF2-40B4-BE49-F238E27FC236}">
                <a16:creationId xmlns:a16="http://schemas.microsoft.com/office/drawing/2014/main" id="{57689FB2-8768-294E-92B6-78748FDCC34F}"/>
              </a:ext>
            </a:extLst>
          </p:cNvPr>
          <p:cNvSpPr/>
          <p:nvPr userDrawn="1"/>
        </p:nvSpPr>
        <p:spPr>
          <a:xfrm>
            <a:off x="4754395" y="3789040"/>
            <a:ext cx="2894682" cy="432048"/>
          </a:xfrm>
          <a:prstGeom prst="roundRect">
            <a:avLst/>
          </a:prstGeom>
          <a:solidFill>
            <a:srgbClr val="17375E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829" tIns="44914" rIns="89829" bIns="44914" rtlCol="0" anchor="ctr"/>
          <a:lstStyle/>
          <a:p>
            <a:pPr algn="ctr" defTabSz="897890"/>
            <a:endParaRPr lang="zh-CN" altLang="en-US" sz="1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448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5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50"/>
                            </p:stCondLst>
                            <p:childTnLst>
                              <p:par>
                                <p:cTn id="2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0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2026/5/27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8766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7" r:id="rId4"/>
    <p:sldLayoutId id="2147483681" r:id="rId5"/>
    <p:sldLayoutId id="2147483680" r:id="rId6"/>
    <p:sldLayoutId id="2147483682" r:id="rId7"/>
    <p:sldLayoutId id="2147483669" r:id="rId8"/>
    <p:sldLayoutId id="2147483672" r:id="rId9"/>
    <p:sldLayoutId id="2147483683" r:id="rId10"/>
    <p:sldLayoutId id="2147483670" r:id="rId11"/>
    <p:sldLayoutId id="2147483673" r:id="rId12"/>
    <p:sldLayoutId id="2147483674" r:id="rId13"/>
    <p:sldLayoutId id="2147483676" r:id="rId14"/>
    <p:sldLayoutId id="2147483684" r:id="rId15"/>
    <p:sldLayoutId id="2147483677" r:id="rId16"/>
    <p:sldLayoutId id="2147483678" r:id="rId17"/>
    <p:sldLayoutId id="2147483685" r:id="rId18"/>
    <p:sldLayoutId id="2147483679" r:id="rId19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7005632-A15C-BFF8-C9A1-BA29740D43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" altLang="zh-CN" sz="2800" dirty="0">
                <a:solidFill>
                  <a:srgbClr val="F8FAFF"/>
                </a:solidFill>
              </a:rPr>
              <a:t>Correctable landmark discovery via large models for vision-language navigation</a:t>
            </a:r>
            <a:endParaRPr lang="zh-CN" altLang="en-US" sz="2400" dirty="0" err="1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2F67A-8786-03B7-15F9-AEF2E5AADD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3600" dirty="0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通过大型模型进行可校正的坐标探索，用于视觉语言导航</a:t>
            </a:r>
            <a:endParaRPr lang="en-US" altLang="zh-CN" sz="3600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5D0103-2928-6C0B-363F-D4506A1F0A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sz="2800" dirty="0"/>
              <a:t>汇报人：澳门科技大学武小涵</a:t>
            </a:r>
            <a:r>
              <a:rPr lang="en-US" altLang="zh-CN" sz="2800" dirty="0"/>
              <a:t>       </a:t>
            </a:r>
            <a:r>
              <a:rPr lang="zh-CN" altLang="en-US" sz="2800" dirty="0"/>
              <a:t>专业：智能技术</a:t>
            </a:r>
            <a:endParaRPr lang="en-US" altLang="zh-CN" sz="2800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76770FD-FF32-F2B0-1783-8444AFA749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sz="2800" dirty="0"/>
              <a:t>2026.05.19</a:t>
            </a:r>
          </a:p>
        </p:txBody>
      </p:sp>
    </p:spTree>
    <p:extLst>
      <p:ext uri="{BB962C8B-B14F-4D97-AF65-F5344CB8AC3E}">
        <p14:creationId xmlns:p14="http://schemas.microsoft.com/office/powerpoint/2010/main" val="2281491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0175DC1-E9D4-5ACC-4515-5244877389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dirty="0">
                <a:latin typeface="+mn-ea"/>
                <a:cs typeface="微软雅黑" panose="020B0503020204020204" pitchFamily="34" charset="-122"/>
              </a:rPr>
              <a:t>文献介绍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dirty="0">
                <a:latin typeface="+mn-ea"/>
                <a:cs typeface="微软雅黑" panose="020B0503020204020204" pitchFamily="34" charset="-122"/>
              </a:rPr>
              <a:t>研究问题</a:t>
            </a:r>
            <a:r>
              <a:rPr lang="zh-CN" altLang="en-US" sz="2500" dirty="0">
                <a:latin typeface="+mn-ea"/>
                <a:cs typeface="微软雅黑" panose="020B0503020204020204" pitchFamily="34" charset="-122"/>
              </a:rPr>
              <a:t>（该研究主要聚焦解决了什么问题）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dirty="0">
                <a:latin typeface="+mn-ea"/>
                <a:cs typeface="微软雅黑" panose="020B0503020204020204" pitchFamily="34" charset="-122"/>
              </a:rPr>
              <a:t>研究方法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dirty="0">
                <a:latin typeface="+mn-ea"/>
                <a:cs typeface="微软雅黑" panose="020B0503020204020204" pitchFamily="34" charset="-122"/>
              </a:rPr>
              <a:t>文献发现</a:t>
            </a:r>
            <a:r>
              <a:rPr lang="en-US" altLang="zh-CN" dirty="0">
                <a:latin typeface="+mn-ea"/>
                <a:cs typeface="微软雅黑" panose="020B0503020204020204" pitchFamily="34" charset="-122"/>
              </a:rPr>
              <a:t>&amp;</a:t>
            </a:r>
            <a:r>
              <a:rPr lang="zh-CN" altLang="en-US" dirty="0">
                <a:latin typeface="+mn-ea"/>
                <a:cs typeface="微软雅黑" panose="020B0503020204020204" pitchFamily="34" charset="-122"/>
              </a:rPr>
              <a:t>结论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dirty="0">
                <a:latin typeface="+mn-ea"/>
                <a:cs typeface="微软雅黑" panose="020B0503020204020204" pitchFamily="34" charset="-122"/>
                <a:sym typeface="+mn-ea"/>
              </a:rPr>
              <a:t>讨论</a:t>
            </a:r>
            <a:r>
              <a:rPr lang="zh-CN" altLang="en-US" sz="2500" dirty="0">
                <a:latin typeface="+mn-ea"/>
                <a:cs typeface="微软雅黑" panose="020B0503020204020204" pitchFamily="34" charset="-122"/>
                <a:sym typeface="+mn-ea"/>
              </a:rPr>
              <a:t>（不足和未来方向）</a:t>
            </a:r>
            <a:endParaRPr lang="en-US" altLang="zh-CN" sz="2500" dirty="0">
              <a:latin typeface="+mn-ea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DA4C8F-0CA7-E27E-A8DA-975692EC16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933732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A5F4E94-FDF8-3543-29D5-3F0C741C9C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期刊</a:t>
            </a:r>
            <a:r>
              <a:rPr lang="zh-CN" altLang="en-US" dirty="0"/>
              <a:t>：</a:t>
            </a:r>
            <a:r>
              <a:rPr lang="en-US" altLang="zh-CN" dirty="0"/>
              <a:t>IEEE Transactions on Pattern Analysis and Machine Intelligence</a:t>
            </a:r>
          </a:p>
          <a:p>
            <a:r>
              <a:rPr lang="zh-CN" altLang="en-US" b="1" dirty="0"/>
              <a:t>作者</a:t>
            </a:r>
            <a:r>
              <a:rPr lang="zh-CN" altLang="en-US" dirty="0"/>
              <a:t>：</a:t>
            </a:r>
            <a:r>
              <a:rPr lang="en" altLang="zh-CN" sz="1200" dirty="0">
                <a:latin typeface="HelveticaNeue Regular"/>
              </a:rPr>
              <a:t>Bingqian Lin; Yunshuang Nie; Ziming Wei; Yi Zhu; Hang Xu; Shikui Ma</a:t>
            </a:r>
            <a:r>
              <a:rPr lang="zh-CN" altLang="en-US" dirty="0"/>
              <a:t>等</a:t>
            </a:r>
            <a:endParaRPr lang="en-US" altLang="zh-CN" dirty="0"/>
          </a:p>
          <a:p>
            <a:r>
              <a:rPr lang="zh-CN" altLang="en-US" b="1" dirty="0"/>
              <a:t>单位</a:t>
            </a:r>
            <a:r>
              <a:rPr lang="en-US" altLang="zh-CN" b="1" dirty="0"/>
              <a:t>/</a:t>
            </a:r>
            <a:r>
              <a:rPr lang="zh-CN" altLang="en-US" b="1" dirty="0"/>
              <a:t>研究团队</a:t>
            </a:r>
            <a:r>
              <a:rPr lang="zh-CN" altLang="en-US" dirty="0"/>
              <a:t>：中山大学（深圳）、华为诺亚方舟实验室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2BC34-CCC8-8045-0DD6-3AE507D20F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8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文献介绍</a:t>
            </a:r>
            <a:endParaRPr lang="zh-CN" altLang="en-US" sz="36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" name="内容占位符 7" descr="图形用户界面, 文本, 网站&#10;&#10;AI 生成的内容可能不正确。">
            <a:extLst>
              <a:ext uri="{FF2B5EF4-FFF2-40B4-BE49-F238E27FC236}">
                <a16:creationId xmlns:a16="http://schemas.microsoft.com/office/drawing/2014/main" id="{A4F8FFD6-3689-61A2-4DBA-A32CCDA04B7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424" y="908050"/>
            <a:ext cx="7976802" cy="417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506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EF12A54A-A689-A466-3681-52A8A1AEAC0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-50014" r="-549" b="-50014"/>
          <a:stretch>
            <a:fillRect/>
          </a:stretch>
        </p:blipFill>
        <p:spPr>
          <a:xfrm>
            <a:off x="6310436" y="1052737"/>
            <a:ext cx="5724017" cy="5471888"/>
          </a:xfrm>
          <a:prstGeom prst="rect">
            <a:avLst/>
          </a:prstGeom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763EAD2-3096-11EE-9D34-FBEE5D61BB2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本研究将视觉</a:t>
            </a:r>
            <a:r>
              <a:rPr lang="en-US" altLang="zh-CN" dirty="0"/>
              <a:t>‑</a:t>
            </a:r>
            <a:r>
              <a:rPr lang="zh-CN" altLang="en-US" dirty="0"/>
              <a:t>语言导航（</a:t>
            </a:r>
            <a:r>
              <a:rPr lang="en" altLang="zh-CN" dirty="0"/>
              <a:t>VLN</a:t>
            </a:r>
            <a:r>
              <a:rPr lang="zh-CN" altLang="en" dirty="0"/>
              <a:t>）</a:t>
            </a:r>
            <a:r>
              <a:rPr lang="zh-CN" altLang="en-US" dirty="0"/>
              <a:t>重构为“开放世界的顺序地标发现”问题，提出 </a:t>
            </a:r>
            <a:r>
              <a:rPr lang="en" altLang="zh-CN" dirty="0"/>
              <a:t>CONSOLE </a:t>
            </a:r>
            <a:r>
              <a:rPr lang="zh-CN" altLang="en-US" dirty="0"/>
              <a:t>框架：先用大语言模型（如 </a:t>
            </a:r>
            <a:r>
              <a:rPr lang="en" altLang="zh-CN" dirty="0"/>
              <a:t>ChatGPT</a:t>
            </a:r>
            <a:r>
              <a:rPr lang="zh-CN" altLang="en" dirty="0"/>
              <a:t>）</a:t>
            </a:r>
            <a:r>
              <a:rPr lang="zh-CN" altLang="en-US" dirty="0"/>
              <a:t>生成“可导航顺序地标”与“地标共现”先验，再用 </a:t>
            </a:r>
            <a:r>
              <a:rPr lang="en" altLang="zh-CN" dirty="0"/>
              <a:t>CLIP </a:t>
            </a:r>
            <a:r>
              <a:rPr lang="zh-CN" altLang="en-US" dirty="0"/>
              <a:t>进行可纠正的地标发现与观测增强，以此抑制大模型知识噪声并提升行动决策的准确性。论文在 </a:t>
            </a:r>
            <a:r>
              <a:rPr lang="en" altLang="zh-CN" dirty="0"/>
              <a:t>R2R</a:t>
            </a:r>
            <a:r>
              <a:rPr lang="zh-CN" altLang="en" dirty="0"/>
              <a:t>、</a:t>
            </a:r>
            <a:r>
              <a:rPr lang="en" altLang="zh-CN" dirty="0"/>
              <a:t>REVERIE</a:t>
            </a:r>
            <a:r>
              <a:rPr lang="zh-CN" altLang="en" dirty="0"/>
              <a:t>、</a:t>
            </a:r>
            <a:r>
              <a:rPr lang="en" altLang="zh-CN" dirty="0"/>
              <a:t>R4R</a:t>
            </a:r>
            <a:r>
              <a:rPr lang="zh-CN" altLang="en" dirty="0"/>
              <a:t>、</a:t>
            </a:r>
            <a:r>
              <a:rPr lang="en" altLang="zh-CN" dirty="0"/>
              <a:t>RxR </a:t>
            </a:r>
            <a:r>
              <a:rPr lang="zh-CN" altLang="en-US" dirty="0"/>
              <a:t>四大数据集上系统评估，较强基线（</a:t>
            </a:r>
            <a:r>
              <a:rPr lang="en" altLang="zh-CN" dirty="0"/>
              <a:t>HAMT</a:t>
            </a:r>
            <a:r>
              <a:rPr lang="zh-CN" altLang="en" dirty="0"/>
              <a:t>、</a:t>
            </a:r>
            <a:r>
              <a:rPr lang="en" altLang="zh-CN" dirty="0"/>
              <a:t>DUET</a:t>
            </a:r>
            <a:r>
              <a:rPr lang="zh-CN" altLang="en" dirty="0"/>
              <a:t>）</a:t>
            </a:r>
            <a:r>
              <a:rPr lang="zh-CN" altLang="en-US" dirty="0"/>
              <a:t>均有稳定增益，并在 </a:t>
            </a:r>
            <a:r>
              <a:rPr lang="en" altLang="zh-CN" dirty="0"/>
              <a:t>R2R </a:t>
            </a:r>
            <a:r>
              <a:rPr lang="zh-CN" altLang="en-US" dirty="0"/>
              <a:t>与 </a:t>
            </a:r>
            <a:r>
              <a:rPr lang="en" altLang="zh-CN" dirty="0"/>
              <a:t>R4R </a:t>
            </a:r>
            <a:r>
              <a:rPr lang="zh-CN" altLang="en-US" dirty="0"/>
              <a:t>的“</a:t>
            </a:r>
            <a:r>
              <a:rPr lang="en" altLang="zh-CN" dirty="0"/>
              <a:t>unseen”</a:t>
            </a:r>
            <a:r>
              <a:rPr lang="zh-CN" altLang="en-US" dirty="0"/>
              <a:t>场景上达成新的 </a:t>
            </a:r>
            <a:r>
              <a:rPr lang="en" altLang="zh-CN" dirty="0"/>
              <a:t>SOTA</a:t>
            </a:r>
            <a:r>
              <a:rPr lang="zh-CN" altLang="en" dirty="0"/>
              <a:t>。</a:t>
            </a:r>
            <a:r>
              <a:rPr lang="zh-CN" altLang="en-US" dirty="0"/>
              <a:t>方法学上，作者以“可纠正性”为关键词：先验由 </a:t>
            </a:r>
            <a:r>
              <a:rPr lang="en" altLang="zh-CN" dirty="0"/>
              <a:t>LLM </a:t>
            </a:r>
            <a:r>
              <a:rPr lang="zh-CN" altLang="en-US" dirty="0"/>
              <a:t>给出，但在视觉约束下通过可学习的打分与一致性损失进行动态校正，以避免“懂很多但说不准”的知识误导。该思路一方面强调了跨模态知识的引入，另一方面强调了任务域内视觉反馈的闭环纠偏，这对任何具身智能导航问题都具有普适意义。</a:t>
            </a:r>
            <a:endParaRPr lang="zh-CN" altLang="en-US" sz="2000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D820E3D-8AA3-2DF6-0456-563E0CB499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8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研究背景</a:t>
            </a:r>
          </a:p>
        </p:txBody>
      </p:sp>
    </p:spTree>
    <p:extLst>
      <p:ext uri="{BB962C8B-B14F-4D97-AF65-F5344CB8AC3E}">
        <p14:creationId xmlns:p14="http://schemas.microsoft.com/office/powerpoint/2010/main" val="1039778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占位符 5">
            <a:extLst>
              <a:ext uri="{FF2B5EF4-FFF2-40B4-BE49-F238E27FC236}">
                <a16:creationId xmlns:a16="http://schemas.microsoft.com/office/drawing/2014/main" id="{CB0D1470-EE97-CDDC-FE79-199233DFAA0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-12400" r="-12400" b="176"/>
          <a:stretch>
            <a:fillRect/>
          </a:stretch>
        </p:blipFill>
        <p:spPr>
          <a:xfrm>
            <a:off x="261938" y="3429000"/>
            <a:ext cx="11772515" cy="3095624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FE696B-7F37-CFF6-4544-531958F364E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" altLang="zh-CN" dirty="0"/>
              <a:t>LLM/VLM </a:t>
            </a:r>
            <a:r>
              <a:rPr lang="zh-CN" altLang="en-US" dirty="0"/>
              <a:t>预训练于超大规模网络语料，蕴含开放世界的共识知识（如地标共现），能为具身导航带来强有力的语义先验；但域间差异导致“直接用”常引入噪声甚至误导。</a:t>
            </a:r>
            <a:endParaRPr lang="en-US" altLang="zh-CN" dirty="0"/>
          </a:p>
          <a:p>
            <a:r>
              <a:rPr lang="zh-CN" altLang="en-US" b="1" dirty="0">
                <a:solidFill>
                  <a:srgbClr val="FF0000"/>
                </a:solidFill>
              </a:rPr>
              <a:t>研究问题：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如何</a:t>
            </a:r>
            <a:r>
              <a:rPr lang="zh-CN" altLang="en-US" b="1" dirty="0"/>
              <a:t>激活且可靠地使用</a:t>
            </a:r>
            <a:r>
              <a:rPr lang="zh-CN" altLang="en-US" dirty="0"/>
              <a:t>大模型中的导航相关知识，同时确保其在实际观测下被</a:t>
            </a:r>
            <a:r>
              <a:rPr lang="zh-CN" altLang="en-US" b="1" dirty="0"/>
              <a:t>动态纠正</a:t>
            </a:r>
            <a:r>
              <a:rPr lang="zh-CN" altLang="en-US" dirty="0"/>
              <a:t>？目标：在长序列指令与复杂室内环境中，借助“顺序地标 </a:t>
            </a:r>
            <a:r>
              <a:rPr lang="en-US" altLang="zh-CN" dirty="0"/>
              <a:t>+ </a:t>
            </a:r>
            <a:r>
              <a:rPr lang="zh-CN" altLang="en-US" dirty="0"/>
              <a:t>共现”先验，对“当前应关注何物、往哪走”进行更稳健的推理，并在多数据集</a:t>
            </a:r>
            <a:r>
              <a:rPr lang="en-US" altLang="zh-CN" dirty="0"/>
              <a:t>/</a:t>
            </a:r>
            <a:r>
              <a:rPr lang="zh-CN" altLang="en-US" dirty="0"/>
              <a:t>多基线上验证普适性。</a:t>
            </a:r>
            <a:endParaRPr lang="en-US" altLang="zh-CN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BBEB99-0DD5-0AFE-32C6-8ED56E8714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8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研究内容</a:t>
            </a:r>
          </a:p>
        </p:txBody>
      </p:sp>
    </p:spTree>
    <p:extLst>
      <p:ext uri="{BB962C8B-B14F-4D97-AF65-F5344CB8AC3E}">
        <p14:creationId xmlns:p14="http://schemas.microsoft.com/office/powerpoint/2010/main" val="3772435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6A7D5B-4453-2714-B1B8-9F88F7D5BD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8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研究内容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69D3545-81E3-F095-202B-96BEE686483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527" y="1052513"/>
            <a:ext cx="8837771" cy="547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70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A57C639-374D-9CD9-ED21-E37E2B2532A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提出了一种名为 </a:t>
            </a:r>
            <a:r>
              <a:rPr lang="en-US" altLang="zh-CN" dirty="0"/>
              <a:t>"CONSOLE "</a:t>
            </a:r>
            <a:r>
              <a:rPr lang="zh-CN" altLang="en-US" dirty="0"/>
              <a:t>的新型 </a:t>
            </a:r>
            <a:r>
              <a:rPr lang="en-US" altLang="zh-CN" dirty="0"/>
              <a:t>VLN </a:t>
            </a:r>
            <a:r>
              <a:rPr lang="zh-CN" altLang="en-US" dirty="0"/>
              <a:t>范式，以一种可修正的方式激活和利用大型模型中丰富的开放世界知识，从而在减轻大型模型带来的误导的同时有效地帮助 </a:t>
            </a:r>
            <a:r>
              <a:rPr lang="en-US" altLang="zh-CN" dirty="0"/>
              <a:t>VLN</a:t>
            </a:r>
            <a:r>
              <a:rPr lang="zh-CN" altLang="en-US" dirty="0"/>
              <a:t>。我们将 </a:t>
            </a:r>
            <a:r>
              <a:rPr lang="en-US" altLang="zh-CN" dirty="0"/>
              <a:t>VLN </a:t>
            </a:r>
            <a:r>
              <a:rPr lang="zh-CN" altLang="en-US" dirty="0"/>
              <a:t>视为一个开放世界的连续地标发现问题，以便有效地从 </a:t>
            </a:r>
            <a:r>
              <a:rPr lang="en-US" altLang="zh-CN" dirty="0"/>
              <a:t>LLM </a:t>
            </a:r>
            <a:r>
              <a:rPr lang="zh-CN" altLang="en-US" dirty="0"/>
              <a:t>和 </a:t>
            </a:r>
            <a:r>
              <a:rPr lang="en-US" altLang="zh-CN" dirty="0"/>
              <a:t>VLM </a:t>
            </a:r>
            <a:r>
              <a:rPr lang="zh-CN" altLang="en-US" dirty="0"/>
              <a:t>中获取对 </a:t>
            </a:r>
            <a:r>
              <a:rPr lang="en-US" altLang="zh-CN" dirty="0"/>
              <a:t>VLN </a:t>
            </a:r>
            <a:r>
              <a:rPr lang="zh-CN" altLang="en-US" dirty="0"/>
              <a:t>有帮助的知识。</a:t>
            </a:r>
            <a:endParaRPr lang="en-US" altLang="zh-CN" dirty="0"/>
          </a:p>
          <a:p>
            <a:r>
              <a:rPr lang="zh-CN" altLang="en-US" dirty="0"/>
              <a:t>基于观测增强策略，可修正地标发现方案可以与不同的 </a:t>
            </a:r>
            <a:r>
              <a:rPr lang="en-US" altLang="zh-CN" dirty="0"/>
              <a:t>VLN </a:t>
            </a:r>
            <a:r>
              <a:rPr lang="zh-CN" altLang="en-US" dirty="0"/>
              <a:t>模型优雅地结合起来。在 </a:t>
            </a:r>
            <a:r>
              <a:rPr lang="en-US" altLang="zh-CN" dirty="0"/>
              <a:t>R2R</a:t>
            </a:r>
            <a:r>
              <a:rPr lang="zh-CN" altLang="en-US" dirty="0"/>
              <a:t>、</a:t>
            </a:r>
            <a:r>
              <a:rPr lang="en-US" altLang="zh-CN" dirty="0"/>
              <a:t>REVERIE</a:t>
            </a:r>
            <a:r>
              <a:rPr lang="zh-CN" altLang="en-US" dirty="0"/>
              <a:t>、</a:t>
            </a:r>
            <a:r>
              <a:rPr lang="en-US" altLang="zh-CN" dirty="0"/>
              <a:t>R4R </a:t>
            </a:r>
            <a:r>
              <a:rPr lang="zh-CN" altLang="en-US" dirty="0"/>
              <a:t>和 </a:t>
            </a:r>
            <a:r>
              <a:rPr lang="en-US" altLang="zh-CN" dirty="0" err="1"/>
              <a:t>RxR</a:t>
            </a:r>
            <a:r>
              <a:rPr lang="en-US" altLang="zh-CN" dirty="0"/>
              <a:t> </a:t>
            </a:r>
            <a:r>
              <a:rPr lang="zh-CN" altLang="en-US" dirty="0"/>
              <a:t>等多个流行的 </a:t>
            </a:r>
            <a:r>
              <a:rPr lang="en-US" altLang="zh-CN" dirty="0"/>
              <a:t>VLN </a:t>
            </a:r>
            <a:r>
              <a:rPr lang="zh-CN" altLang="en-US" dirty="0"/>
              <a:t>基准上，</a:t>
            </a:r>
            <a:r>
              <a:rPr lang="en-US" altLang="zh-CN" dirty="0"/>
              <a:t>CONSOLE </a:t>
            </a:r>
            <a:r>
              <a:rPr lang="zh-CN" altLang="en-US" dirty="0"/>
              <a:t>的表现优于强基准。</a:t>
            </a:r>
            <a:r>
              <a:rPr lang="en-US" altLang="zh-CN" dirty="0"/>
              <a:t>CONSOLE </a:t>
            </a:r>
            <a:r>
              <a:rPr lang="zh-CN" altLang="en-US" dirty="0"/>
              <a:t>还在 </a:t>
            </a:r>
            <a:r>
              <a:rPr lang="en-US" altLang="zh-CN" dirty="0"/>
              <a:t>R2R </a:t>
            </a:r>
            <a:r>
              <a:rPr lang="zh-CN" altLang="en-US" dirty="0"/>
              <a:t>和 </a:t>
            </a:r>
            <a:r>
              <a:rPr lang="en-US" altLang="zh-CN" dirty="0"/>
              <a:t>R4R </a:t>
            </a:r>
            <a:r>
              <a:rPr lang="zh-CN" altLang="en-US" dirty="0"/>
              <a:t>上取得了新的 </a:t>
            </a:r>
            <a:r>
              <a:rPr lang="en-US" altLang="zh-CN" dirty="0"/>
              <a:t>SOTA </a:t>
            </a:r>
            <a:r>
              <a:rPr lang="zh-CN" altLang="en-US" dirty="0"/>
              <a:t>结果。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8EAD04-0DA7-51D6-47B7-922080A20F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8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研究问题</a:t>
            </a:r>
          </a:p>
        </p:txBody>
      </p:sp>
    </p:spTree>
    <p:extLst>
      <p:ext uri="{BB962C8B-B14F-4D97-AF65-F5344CB8AC3E}">
        <p14:creationId xmlns:p14="http://schemas.microsoft.com/office/powerpoint/2010/main" val="2540020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B890FF-8F94-AEDE-7A8F-A1E4F5304F5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方法管线包括四步：</a:t>
            </a:r>
            <a:endParaRPr lang="en-US" altLang="zh-CN" dirty="0"/>
          </a:p>
          <a:p>
            <a:pPr marL="342900" indent="-342900">
              <a:buAutoNum type="alphaUcParenBoth"/>
            </a:pPr>
            <a:r>
              <a:rPr lang="zh-CN" altLang="en-US" b="1" dirty="0"/>
              <a:t>先验生成</a:t>
            </a:r>
            <a:r>
              <a:rPr lang="en-US" altLang="zh-CN" dirty="0"/>
              <a:t>——</a:t>
            </a:r>
            <a:r>
              <a:rPr lang="zh-CN" altLang="en-US" dirty="0"/>
              <a:t>设计多样化任务示例的提示，约束 </a:t>
            </a:r>
            <a:r>
              <a:rPr lang="en" altLang="zh-CN" dirty="0"/>
              <a:t>LLM </a:t>
            </a:r>
            <a:r>
              <a:rPr lang="zh-CN" altLang="en-US" dirty="0"/>
              <a:t>输出</a:t>
            </a:r>
            <a:r>
              <a:rPr lang="zh-CN" altLang="en-US" b="1" dirty="0"/>
              <a:t>可导航的顺序地标</a:t>
            </a:r>
            <a:r>
              <a:rPr lang="zh-CN" altLang="en-US" dirty="0"/>
              <a:t>（避免抽象词、强调短语级地标）与</a:t>
            </a:r>
            <a:r>
              <a:rPr lang="zh-CN" altLang="en-US" b="1" dirty="0"/>
              <a:t>可见的共现物</a:t>
            </a:r>
            <a:r>
              <a:rPr lang="zh-CN" altLang="en-US" dirty="0"/>
              <a:t>（如“厨房</a:t>
            </a:r>
            <a:r>
              <a:rPr lang="en-US" altLang="zh-CN" dirty="0"/>
              <a:t>‑</a:t>
            </a:r>
            <a:r>
              <a:rPr lang="zh-CN" altLang="en-US" dirty="0"/>
              <a:t>灶台</a:t>
            </a:r>
            <a:r>
              <a:rPr lang="en-US" altLang="zh-CN" dirty="0"/>
              <a:t>‑</a:t>
            </a:r>
            <a:r>
              <a:rPr lang="zh-CN" altLang="en-US" dirty="0"/>
              <a:t>冰箱”），得到每个地标的共现集合；</a:t>
            </a:r>
            <a:endParaRPr lang="en-US" altLang="zh-CN" dirty="0"/>
          </a:p>
          <a:p>
            <a:pPr marL="342900" indent="-342900">
              <a:buAutoNum type="alphaUcParenBoth"/>
            </a:pPr>
            <a:r>
              <a:rPr lang="zh-CN" altLang="en-US" b="1" dirty="0"/>
              <a:t>可纠正地标发现</a:t>
            </a:r>
            <a:r>
              <a:rPr lang="en-US" altLang="zh-CN" dirty="0"/>
              <a:t>——</a:t>
            </a:r>
            <a:r>
              <a:rPr lang="zh-CN" altLang="en-US" dirty="0"/>
              <a:t>在时间步 </a:t>
            </a:r>
            <a:r>
              <a:rPr lang="en" altLang="zh-CN" dirty="0"/>
              <a:t>t</a:t>
            </a:r>
            <a:r>
              <a:rPr lang="zh-CN" altLang="en" dirty="0"/>
              <a:t>，</a:t>
            </a:r>
            <a:r>
              <a:rPr lang="zh-CN" altLang="en-US" dirty="0"/>
              <a:t>将指令、观测和共现先验送入“学习式共现打分”模块，以 </a:t>
            </a:r>
            <a:r>
              <a:rPr lang="en" altLang="zh-CN" dirty="0"/>
              <a:t>CLIP </a:t>
            </a:r>
            <a:r>
              <a:rPr lang="zh-CN" altLang="en-US" dirty="0"/>
              <a:t>特征度量视觉匹配度，再通过一致性损失用导航监督信号对先验进行重排与抑噪；</a:t>
            </a:r>
            <a:endParaRPr lang="en-US" altLang="zh-CN" dirty="0"/>
          </a:p>
          <a:p>
            <a:pPr marL="342900" indent="-342900">
              <a:buAutoNum type="alphaUcParenBoth"/>
            </a:pPr>
            <a:r>
              <a:rPr lang="zh-CN" altLang="en-US" b="1" dirty="0"/>
              <a:t>观测增强</a:t>
            </a:r>
            <a:r>
              <a:rPr lang="en-US" altLang="zh-CN" dirty="0"/>
              <a:t>——</a:t>
            </a:r>
            <a:r>
              <a:rPr lang="zh-CN" altLang="en-US" dirty="0"/>
              <a:t>用已纠正地标特征增强原始视觉特征，作为 </a:t>
            </a:r>
            <a:r>
              <a:rPr lang="en" altLang="zh-CN" dirty="0"/>
              <a:t>VLN agent </a:t>
            </a:r>
            <a:r>
              <a:rPr lang="zh-CN" altLang="en-US" dirty="0"/>
              <a:t>的输入表征</a:t>
            </a:r>
            <a:endParaRPr lang="en-US" altLang="zh-CN" dirty="0"/>
          </a:p>
          <a:p>
            <a:r>
              <a:rPr lang="en-US" altLang="zh-CN" b="1" dirty="0"/>
              <a:t>(</a:t>
            </a:r>
            <a:r>
              <a:rPr lang="en" altLang="zh-CN" b="1" dirty="0"/>
              <a:t>D) </a:t>
            </a:r>
            <a:r>
              <a:rPr lang="zh-CN" altLang="en-US" b="1" dirty="0"/>
              <a:t>  训练目标</a:t>
            </a:r>
            <a:r>
              <a:rPr lang="en-US" altLang="zh-CN" dirty="0"/>
              <a:t>——</a:t>
            </a:r>
            <a:r>
              <a:rPr lang="zh-CN" altLang="en-US" dirty="0"/>
              <a:t>导航损失（模仿</a:t>
            </a:r>
            <a:r>
              <a:rPr lang="en-US" altLang="zh-CN" dirty="0"/>
              <a:t>+</a:t>
            </a:r>
            <a:r>
              <a:rPr lang="zh-CN" altLang="en-US" dirty="0"/>
              <a:t>强化）叠加一致性与对比损失，兼顾行为正确性与先验校正。论文列出关键变量与记号，便于实现复现与跨模型对接。 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0EE928-AB7F-B374-BA7E-525F864C18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8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研究思路</a:t>
            </a:r>
            <a:endParaRPr lang="en-US" altLang="zh-CN" sz="2800" b="1" dirty="0">
              <a:solidFill>
                <a:prstClr val="black">
                  <a:lumMod val="65000"/>
                  <a:lumOff val="35000"/>
                </a:prstClr>
              </a:solidFill>
              <a:ea typeface="微软雅黑" panose="020B0503020204020204" pitchFamily="34" charset="-122"/>
            </a:endParaRPr>
          </a:p>
        </p:txBody>
      </p:sp>
      <p:pic>
        <p:nvPicPr>
          <p:cNvPr id="5" name="图片占位符 4">
            <a:extLst>
              <a:ext uri="{FF2B5EF4-FFF2-40B4-BE49-F238E27FC236}">
                <a16:creationId xmlns:a16="http://schemas.microsoft.com/office/drawing/2014/main" id="{4E45EBFB-8B59-A582-78BB-0BCD0FE517B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0" b="520"/>
          <a:stretch>
            <a:fillRect/>
          </a:stretch>
        </p:blipFill>
        <p:spPr>
          <a:xfrm>
            <a:off x="6310313" y="1052513"/>
            <a:ext cx="5724525" cy="547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564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AD9A5FE-7133-38A2-787A-F75D6739B69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学习式共现打分（</a:t>
            </a:r>
            <a:r>
              <a:rPr lang="en" altLang="zh-CN" dirty="0"/>
              <a:t>LS</a:t>
            </a:r>
            <a:r>
              <a:rPr lang="zh-CN" altLang="en" dirty="0"/>
              <a:t>）</a:t>
            </a:r>
            <a:r>
              <a:rPr lang="zh-CN" altLang="en-US" dirty="0"/>
              <a:t>与行动决策</a:t>
            </a:r>
            <a:endParaRPr lang="en-US" altLang="zh-CN" dirty="0"/>
          </a:p>
          <a:p>
            <a:r>
              <a:rPr lang="zh-CN" altLang="en-US" sz="2800" dirty="0"/>
              <a:t>引入</a:t>
            </a:r>
            <a:r>
              <a:rPr lang="zh-CN" altLang="en-US" sz="2800" b="1" dirty="0"/>
              <a:t>可学习的共现打分模块</a:t>
            </a:r>
            <a:r>
              <a:rPr lang="zh-CN" altLang="en-US" sz="2800" dirty="0"/>
              <a:t>：以 </a:t>
            </a:r>
            <a:r>
              <a:rPr lang="en" altLang="zh-CN" sz="2800" dirty="0"/>
              <a:t>CLIP </a:t>
            </a:r>
            <a:r>
              <a:rPr lang="zh-CN" altLang="en-US" sz="2800" dirty="0"/>
              <a:t>文本</a:t>
            </a:r>
            <a:r>
              <a:rPr lang="en-US" altLang="zh-CN" sz="2800" dirty="0"/>
              <a:t>‑</a:t>
            </a:r>
            <a:r>
              <a:rPr lang="zh-CN" altLang="en-US" sz="2800" dirty="0"/>
              <a:t>图像对齐提取候选地标</a:t>
            </a:r>
            <a:r>
              <a:rPr lang="en-US" altLang="zh-CN" sz="2800" dirty="0"/>
              <a:t>/</a:t>
            </a:r>
            <a:r>
              <a:rPr lang="zh-CN" altLang="en-US" sz="2800" dirty="0"/>
              <a:t>共现的视觉可见性与语义相似度，并结合导航监督（通过一致性损失）对“先验权重”进行再排序，使得“更可能在当前视野中出现、且对达成当前子目标更关键”的地标</a:t>
            </a:r>
            <a:r>
              <a:rPr lang="en-US" altLang="zh-CN" sz="2800" dirty="0"/>
              <a:t>/</a:t>
            </a:r>
            <a:r>
              <a:rPr lang="zh-CN" altLang="en-US" sz="2800" dirty="0"/>
              <a:t>共现获得更高权重，反之被抑制。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7C4292-0E85-8375-0D23-91592B04B8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8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主要研究方法</a:t>
            </a:r>
          </a:p>
        </p:txBody>
      </p:sp>
      <p:pic>
        <p:nvPicPr>
          <p:cNvPr id="5" name="图片占位符 4">
            <a:extLst>
              <a:ext uri="{FF2B5EF4-FFF2-40B4-BE49-F238E27FC236}">
                <a16:creationId xmlns:a16="http://schemas.microsoft.com/office/drawing/2014/main" id="{51EC5CB7-18FD-4AA4-2685-700E3946C90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759" t="48125" r="-12934" b="-400"/>
          <a:stretch>
            <a:fillRect/>
          </a:stretch>
        </p:blipFill>
        <p:spPr>
          <a:xfrm>
            <a:off x="333375" y="3716338"/>
            <a:ext cx="11593513" cy="273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987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E785B5-0430-F717-74E5-85C02DAFCC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8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主要研究方法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363F3AA-8427-77C1-BD03-BB31C74AD8B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467" y="981075"/>
            <a:ext cx="8983328" cy="561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289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501B74A-9C7C-6F91-25C0-59850EE29CC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sz="2800" dirty="0"/>
              <a:t>先验质量决定上限。作者通过</a:t>
            </a:r>
            <a:r>
              <a:rPr lang="zh-CN" altLang="en-US" sz="2800" b="1" dirty="0"/>
              <a:t>提示工程</a:t>
            </a:r>
            <a:r>
              <a:rPr lang="zh-CN" altLang="en-US" sz="2800" dirty="0"/>
              <a:t>与</a:t>
            </a:r>
            <a:r>
              <a:rPr lang="zh-CN" altLang="en-US" sz="2800" b="1" dirty="0"/>
              <a:t>少样例学习</a:t>
            </a:r>
            <a:r>
              <a:rPr lang="zh-CN" altLang="en-US" sz="2800" dirty="0"/>
              <a:t>，让 </a:t>
            </a:r>
            <a:r>
              <a:rPr lang="en" altLang="zh-CN" sz="2800" dirty="0"/>
              <a:t>LLM </a:t>
            </a:r>
            <a:r>
              <a:rPr lang="zh-CN" altLang="en-US" sz="2800" dirty="0"/>
              <a:t>输出</a:t>
            </a:r>
            <a:r>
              <a:rPr lang="zh-CN" altLang="en-US" sz="2800" b="1" dirty="0"/>
              <a:t>可观察、可落地</a:t>
            </a:r>
            <a:r>
              <a:rPr lang="zh-CN" altLang="en-US" sz="2800" dirty="0"/>
              <a:t>的地标与共现（显式禁止抽象词如“</a:t>
            </a:r>
            <a:r>
              <a:rPr lang="en" altLang="zh-CN" sz="2800" dirty="0"/>
              <a:t>support/right”</a:t>
            </a:r>
            <a:r>
              <a:rPr lang="zh-CN" altLang="en-US" sz="2800" dirty="0"/>
              <a:t>等），并强调</a:t>
            </a:r>
            <a:r>
              <a:rPr lang="zh-CN" altLang="en-US" sz="2800" b="1" dirty="0"/>
              <a:t>导航顺序</a:t>
            </a:r>
            <a:r>
              <a:rPr lang="zh-CN" altLang="en-US" sz="2800" dirty="0"/>
              <a:t>而非文本顺序。实验与可视化显示：增加覆盖多样描述的示例（如名词、名词短语）后，</a:t>
            </a:r>
            <a:r>
              <a:rPr lang="en" altLang="zh-CN" sz="2800" dirty="0"/>
              <a:t>LLM </a:t>
            </a:r>
            <a:r>
              <a:rPr lang="zh-CN" altLang="en-US" sz="2800" dirty="0"/>
              <a:t>能从“只抽到 </a:t>
            </a:r>
            <a:r>
              <a:rPr lang="en" altLang="zh-CN" sz="2800" dirty="0"/>
              <a:t>table”</a:t>
            </a:r>
            <a:r>
              <a:rPr lang="zh-CN" altLang="en-US" sz="2800" dirty="0"/>
              <a:t>提升到“抽到 </a:t>
            </a:r>
            <a:r>
              <a:rPr lang="en" altLang="zh-CN" sz="2800" dirty="0"/>
              <a:t>table with China”</a:t>
            </a:r>
            <a:r>
              <a:rPr lang="zh-CN" altLang="en-US" sz="2800" dirty="0"/>
              <a:t>等更精确地标；为“共现生成”加入可见性约束后，能把噪声词替换为“</a:t>
            </a:r>
            <a:r>
              <a:rPr lang="en" altLang="zh-CN" sz="2800" dirty="0"/>
              <a:t>statue”</a:t>
            </a:r>
            <a:r>
              <a:rPr lang="zh-CN" altLang="en-US" sz="2800" dirty="0"/>
              <a:t>等更有辨识度的视觉对象，显著提升后续纠正与匹配的上限。此处还比较了 </a:t>
            </a:r>
            <a:r>
              <a:rPr lang="en" altLang="zh-CN" sz="2800" dirty="0"/>
              <a:t>ChatGPT </a:t>
            </a:r>
            <a:r>
              <a:rPr lang="zh-CN" altLang="en-US" sz="2800" dirty="0"/>
              <a:t>与 </a:t>
            </a:r>
            <a:r>
              <a:rPr lang="en" altLang="zh-CN" sz="2800" dirty="0"/>
              <a:t>ConceptNet </a:t>
            </a:r>
            <a:r>
              <a:rPr lang="zh-CN" altLang="en-US" sz="2800" dirty="0"/>
              <a:t>的“共现可见性”：前者对视觉可见物的可控生成更强。</a:t>
            </a:r>
            <a:endParaRPr lang="zh-CN" altLang="en-US" sz="20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D678AF-3AD2-C70F-1EAF-602AB00D45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8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主要研究方法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3077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73DC0BB-8997-4B3E-4372-06B4DBCD566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数据：</a:t>
            </a:r>
            <a:r>
              <a:rPr lang="zh-CN" altLang="en-US" sz="2800" dirty="0"/>
              <a:t>在四个主流基准上评测</a:t>
            </a:r>
            <a:r>
              <a:rPr lang="en-US" altLang="zh-CN" sz="2800" dirty="0"/>
              <a:t>——</a:t>
            </a:r>
            <a:r>
              <a:rPr lang="en" altLang="zh-CN" sz="2800" dirty="0"/>
              <a:t>R2R</a:t>
            </a:r>
            <a:r>
              <a:rPr lang="zh-CN" altLang="en" sz="2800" dirty="0"/>
              <a:t>（</a:t>
            </a:r>
            <a:r>
              <a:rPr lang="en" altLang="zh-CN" sz="2800" dirty="0"/>
              <a:t>90</a:t>
            </a:r>
            <a:r>
              <a:rPr lang="zh-CN" altLang="en-US" sz="2800" dirty="0"/>
              <a:t>个室内场景与</a:t>
            </a:r>
            <a:r>
              <a:rPr lang="en-US" altLang="zh-CN" sz="2800" dirty="0"/>
              <a:t>7189</a:t>
            </a:r>
            <a:r>
              <a:rPr lang="zh-CN" altLang="en-US" sz="2800" dirty="0"/>
              <a:t>条轨迹）、</a:t>
            </a:r>
            <a:r>
              <a:rPr lang="en" altLang="zh-CN" sz="2800" dirty="0"/>
              <a:t>REVERIE</a:t>
            </a:r>
            <a:r>
              <a:rPr lang="zh-CN" altLang="en" sz="2800" dirty="0"/>
              <a:t>（</a:t>
            </a:r>
            <a:r>
              <a:rPr lang="zh-CN" altLang="en-US" sz="2800" dirty="0"/>
              <a:t>高层级指令与远程物体定位）、</a:t>
            </a:r>
            <a:r>
              <a:rPr lang="en" altLang="zh-CN" sz="2800" dirty="0"/>
              <a:t>R4R</a:t>
            </a:r>
            <a:r>
              <a:rPr lang="zh-CN" altLang="en" sz="2800" dirty="0"/>
              <a:t>（</a:t>
            </a:r>
            <a:r>
              <a:rPr lang="zh-CN" altLang="en-US" sz="2800" dirty="0"/>
              <a:t>将两条 </a:t>
            </a:r>
            <a:r>
              <a:rPr lang="en" altLang="zh-CN" sz="2800" dirty="0"/>
              <a:t>R2R </a:t>
            </a:r>
            <a:r>
              <a:rPr lang="zh-CN" altLang="en-US" sz="2800" dirty="0"/>
              <a:t>轨迹首尾拼接，形成更长路径与指令）、</a:t>
            </a:r>
            <a:r>
              <a:rPr lang="en" altLang="zh-CN" sz="2800" dirty="0"/>
              <a:t>RxR</a:t>
            </a:r>
            <a:r>
              <a:rPr lang="zh-CN" altLang="en" sz="2800" dirty="0"/>
              <a:t>（</a:t>
            </a:r>
            <a:r>
              <a:rPr lang="zh-CN" altLang="en-US" sz="2800" dirty="0"/>
              <a:t>指令与轨迹更复杂，此处使用英文子集）。</a:t>
            </a:r>
            <a:endParaRPr lang="en-US" altLang="zh-CN" sz="2800" dirty="0"/>
          </a:p>
          <a:p>
            <a:r>
              <a:rPr lang="zh-CN" altLang="en-US" sz="2800" dirty="0">
                <a:solidFill>
                  <a:srgbClr val="FF0000"/>
                </a:solidFill>
              </a:rPr>
              <a:t>指标：</a:t>
            </a:r>
            <a:r>
              <a:rPr lang="en" altLang="zh-CN" sz="2800" dirty="0"/>
              <a:t>R2R </a:t>
            </a:r>
            <a:r>
              <a:rPr lang="zh-CN" altLang="en-US" sz="2800" dirty="0"/>
              <a:t>采用 </a:t>
            </a:r>
            <a:r>
              <a:rPr lang="en" altLang="zh-CN" sz="2800" dirty="0"/>
              <a:t>TL/NE/SR/SPL</a:t>
            </a:r>
            <a:r>
              <a:rPr lang="zh-CN" altLang="en" sz="2800" dirty="0"/>
              <a:t>；</a:t>
            </a:r>
            <a:r>
              <a:rPr lang="en" altLang="zh-CN" sz="2800" dirty="0"/>
              <a:t>R4R </a:t>
            </a:r>
            <a:r>
              <a:rPr lang="zh-CN" altLang="en-US" sz="2800" dirty="0"/>
              <a:t>与 </a:t>
            </a:r>
            <a:r>
              <a:rPr lang="en" altLang="zh-CN" sz="2800" dirty="0"/>
              <a:t>RxR </a:t>
            </a:r>
            <a:r>
              <a:rPr lang="zh-CN" altLang="en-US" sz="2800" dirty="0"/>
              <a:t>额外采用 </a:t>
            </a:r>
            <a:r>
              <a:rPr lang="en" altLang="zh-CN" sz="2800" dirty="0"/>
              <a:t>CLS/nDTW/SDTW</a:t>
            </a:r>
            <a:r>
              <a:rPr lang="zh-CN" altLang="en" sz="2800" dirty="0"/>
              <a:t>；</a:t>
            </a:r>
            <a:r>
              <a:rPr lang="en" altLang="zh-CN" sz="2800" dirty="0"/>
              <a:t>REVERIE </a:t>
            </a:r>
            <a:r>
              <a:rPr lang="zh-CN" altLang="en-US" sz="2800" dirty="0"/>
              <a:t>采用 </a:t>
            </a:r>
            <a:r>
              <a:rPr lang="en" altLang="zh-CN" sz="2800" dirty="0"/>
              <a:t>RGS/RGSPL/OSR</a:t>
            </a:r>
            <a:r>
              <a:rPr lang="zh-CN" altLang="en" sz="2800" dirty="0"/>
              <a:t>。</a:t>
            </a:r>
            <a:r>
              <a:rPr lang="zh-CN" altLang="en-US" sz="2800" dirty="0"/>
              <a:t>实现：使用 </a:t>
            </a:r>
            <a:r>
              <a:rPr lang="en" altLang="zh-CN" sz="2800" dirty="0"/>
              <a:t>HAMT/DUET </a:t>
            </a:r>
            <a:r>
              <a:rPr lang="zh-CN" altLang="en-US" sz="2800" dirty="0"/>
              <a:t>的预训练检查点以充分利用其导航能力；</a:t>
            </a:r>
            <a:r>
              <a:rPr lang="en" altLang="zh-CN" sz="2800" dirty="0"/>
              <a:t>CLIP </a:t>
            </a:r>
            <a:r>
              <a:rPr lang="zh-CN" altLang="en-US" sz="2800" dirty="0"/>
              <a:t>采用 </a:t>
            </a:r>
            <a:r>
              <a:rPr lang="en-US" altLang="zh-CN" sz="2800" dirty="0"/>
              <a:t>[16] </a:t>
            </a:r>
            <a:r>
              <a:rPr lang="zh-CN" altLang="en-US" sz="2800" dirty="0"/>
              <a:t>公开的 </a:t>
            </a:r>
            <a:r>
              <a:rPr lang="en" altLang="zh-CN" sz="2800" dirty="0"/>
              <a:t>ViT‑B/32 </a:t>
            </a:r>
            <a:r>
              <a:rPr lang="zh-CN" altLang="en-US" sz="2800" dirty="0"/>
              <a:t>特征；温度 </a:t>
            </a:r>
            <a:r>
              <a:rPr lang="el-GR" altLang="zh-CN" sz="2800" dirty="0"/>
              <a:t>τ=0.5</a:t>
            </a:r>
            <a:r>
              <a:rPr lang="zh-CN" altLang="el-GR" sz="2800" dirty="0"/>
              <a:t>；</a:t>
            </a:r>
            <a:r>
              <a:rPr lang="zh-CN" altLang="en-US" sz="2800" dirty="0"/>
              <a:t>损失权重 </a:t>
            </a:r>
            <a:r>
              <a:rPr lang="el-GR" altLang="zh-CN" sz="2800" dirty="0"/>
              <a:t>λ1=0.1</a:t>
            </a:r>
            <a:r>
              <a:rPr lang="zh-CN" altLang="el-GR" sz="2800" dirty="0"/>
              <a:t>、</a:t>
            </a:r>
            <a:r>
              <a:rPr lang="el-GR" altLang="zh-CN" sz="2800" dirty="0"/>
              <a:t>λ2=0.1</a:t>
            </a:r>
            <a:r>
              <a:rPr lang="zh-CN" altLang="el-GR" sz="2800" dirty="0"/>
              <a:t>；</a:t>
            </a:r>
            <a:r>
              <a:rPr lang="zh-CN" altLang="en-US" sz="2800" dirty="0"/>
              <a:t>并针对 </a:t>
            </a:r>
            <a:r>
              <a:rPr lang="en" altLang="zh-CN" sz="2800" dirty="0"/>
              <a:t>R2R </a:t>
            </a:r>
            <a:r>
              <a:rPr lang="zh-CN" altLang="en-US" sz="2800" dirty="0"/>
              <a:t>增广数据量过大引入</a:t>
            </a:r>
            <a:r>
              <a:rPr lang="zh-CN" altLang="en-US" sz="2800" b="1" dirty="0"/>
              <a:t>先验词表复用</a:t>
            </a:r>
            <a:r>
              <a:rPr lang="zh-CN" altLang="en-US" sz="2800" dirty="0"/>
              <a:t>以降低 </a:t>
            </a:r>
            <a:r>
              <a:rPr lang="en" altLang="zh-CN" sz="2800" dirty="0"/>
              <a:t>ChatGPT </a:t>
            </a:r>
            <a:r>
              <a:rPr lang="zh-CN" altLang="en-US" sz="2800" dirty="0"/>
              <a:t>代价。 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A33CAD-BC94-BA12-2927-44F7B0D6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8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</a:rPr>
              <a:t>实验设计与流程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8E8D128-7BDC-26E9-7A3B-331B05FEC38F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313" y="2021340"/>
            <a:ext cx="5616575" cy="353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43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B2D8EB4-B769-A0FB-3EA0-209B17B68FC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在 </a:t>
            </a:r>
            <a:r>
              <a:rPr lang="en" altLang="zh-CN" sz="2000" dirty="0"/>
              <a:t>R2R </a:t>
            </a:r>
            <a:r>
              <a:rPr lang="zh-CN" altLang="en-US" sz="2000" dirty="0"/>
              <a:t>上，</a:t>
            </a:r>
            <a:r>
              <a:rPr lang="en" altLang="zh-CN" sz="2000" dirty="0"/>
              <a:t>CONSOLE </a:t>
            </a:r>
            <a:r>
              <a:rPr lang="zh-CN" altLang="en-US" sz="2000" dirty="0"/>
              <a:t>对 </a:t>
            </a:r>
            <a:r>
              <a:rPr lang="en" altLang="zh-CN" sz="2000" dirty="0"/>
              <a:t>DUET/HAMT </a:t>
            </a:r>
            <a:r>
              <a:rPr lang="zh-CN" altLang="en-US" sz="2000" dirty="0"/>
              <a:t>在 </a:t>
            </a:r>
            <a:r>
              <a:rPr lang="en" altLang="zh-CN" sz="2000" dirty="0"/>
              <a:t>Val/Test Unseen </a:t>
            </a:r>
            <a:r>
              <a:rPr lang="zh-CN" altLang="en-US" sz="2000" dirty="0"/>
              <a:t>场景的 </a:t>
            </a:r>
            <a:r>
              <a:rPr lang="en" altLang="zh-CN" sz="2000" dirty="0"/>
              <a:t>SPL </a:t>
            </a:r>
            <a:r>
              <a:rPr lang="zh-CN" altLang="en-US" sz="2000" dirty="0"/>
              <a:t>分别有约 </a:t>
            </a:r>
            <a:r>
              <a:rPr lang="en-US" altLang="zh-CN" sz="2000" dirty="0"/>
              <a:t>3%/2% </a:t>
            </a:r>
            <a:r>
              <a:rPr lang="zh-CN" altLang="en-US" sz="2000" dirty="0"/>
              <a:t>的提升，并在 </a:t>
            </a:r>
            <a:r>
              <a:rPr lang="en" altLang="zh-CN" sz="2000" dirty="0"/>
              <a:t>Unseen </a:t>
            </a:r>
            <a:r>
              <a:rPr lang="zh-CN" altLang="en-US" sz="2000" dirty="0"/>
              <a:t>上取得新的 </a:t>
            </a:r>
            <a:r>
              <a:rPr lang="en" altLang="zh-CN" sz="2000" dirty="0"/>
              <a:t>SOTA</a:t>
            </a:r>
            <a:r>
              <a:rPr lang="zh-CN" altLang="en" sz="2000" dirty="0"/>
              <a:t>；</a:t>
            </a:r>
            <a:r>
              <a:rPr lang="zh-CN" altLang="en-US" sz="2000" dirty="0"/>
              <a:t>在更长路径、更严格忠实度度量的 </a:t>
            </a:r>
            <a:r>
              <a:rPr lang="en" altLang="zh-CN" sz="2000" dirty="0"/>
              <a:t>R4R Val Unseen </a:t>
            </a:r>
            <a:r>
              <a:rPr lang="zh-CN" altLang="en-US" sz="2000" dirty="0"/>
              <a:t>上，同样优于强基线。增益来源可归因于：</a:t>
            </a:r>
            <a:endParaRPr lang="en-US" altLang="zh-CN" sz="2000" dirty="0"/>
          </a:p>
          <a:p>
            <a:r>
              <a:rPr lang="en-US" altLang="zh-CN" sz="2000" dirty="0"/>
              <a:t>① </a:t>
            </a:r>
            <a:r>
              <a:rPr lang="zh-CN" altLang="en-US" sz="2000" dirty="0"/>
              <a:t>顺序地标与可见共现使</a:t>
            </a:r>
            <a:r>
              <a:rPr lang="zh-CN" altLang="en-US" sz="2000" b="1" dirty="0"/>
              <a:t>指令</a:t>
            </a:r>
            <a:r>
              <a:rPr lang="en-US" altLang="zh-CN" sz="2000" b="1" dirty="0"/>
              <a:t>‑</a:t>
            </a:r>
            <a:r>
              <a:rPr lang="zh-CN" altLang="en-US" sz="2000" b="1" dirty="0"/>
              <a:t>观测对齐</a:t>
            </a:r>
            <a:r>
              <a:rPr lang="zh-CN" altLang="en-US" sz="2000" dirty="0"/>
              <a:t>更稳健；</a:t>
            </a:r>
            <a:endParaRPr lang="en-US" altLang="zh-CN" sz="2000" dirty="0"/>
          </a:p>
          <a:p>
            <a:r>
              <a:rPr lang="en-US" altLang="zh-CN" sz="2000" dirty="0"/>
              <a:t>② </a:t>
            </a:r>
            <a:r>
              <a:rPr lang="zh-CN" altLang="en-US" sz="2000" dirty="0"/>
              <a:t>学习式打分在</a:t>
            </a:r>
            <a:r>
              <a:rPr lang="zh-CN" altLang="en-US" sz="2000" b="1" dirty="0"/>
              <a:t>动态场景</a:t>
            </a:r>
            <a:r>
              <a:rPr lang="zh-CN" altLang="en-US" sz="2000" dirty="0"/>
              <a:t>中抑制 </a:t>
            </a:r>
            <a:r>
              <a:rPr lang="en" altLang="zh-CN" sz="2000" dirty="0"/>
              <a:t>LLM </a:t>
            </a:r>
            <a:r>
              <a:rPr lang="zh-CN" altLang="en-US" sz="2000" dirty="0"/>
              <a:t>先验噪声；</a:t>
            </a:r>
            <a:endParaRPr lang="en-US" altLang="zh-CN" sz="2000" dirty="0"/>
          </a:p>
          <a:p>
            <a:r>
              <a:rPr lang="en-US" altLang="zh-CN" sz="2000" dirty="0"/>
              <a:t>③ </a:t>
            </a:r>
            <a:r>
              <a:rPr lang="zh-CN" altLang="en-US" sz="2000" dirty="0"/>
              <a:t>观测增强让 </a:t>
            </a:r>
            <a:r>
              <a:rPr lang="en" altLang="zh-CN" sz="2000" dirty="0"/>
              <a:t>VLN agent </a:t>
            </a:r>
            <a:r>
              <a:rPr lang="zh-CN" altLang="en-US" sz="2000" dirty="0"/>
              <a:t>能直接受益于“被纠正的地标”表示。结果表明，该框架不仅在“看不见的场景”上具备更强的泛化，还能在长序列下保持路径一致性。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509F2D-A856-F1F2-D588-6F9E1ECFEC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/>
          </a:bodyPr>
          <a:lstStyle/>
          <a:p>
            <a:r>
              <a:rPr lang="zh-CN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实验结果</a:t>
            </a:r>
            <a:r>
              <a:rPr lang="en-US" altLang="zh-CN" sz="24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-R2R &amp; R4R</a:t>
            </a:r>
            <a:r>
              <a:rPr lang="zh-CN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（一般化能力与路径忠实度）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2636D2B-5871-FC22-ECB1-8817AD42F8A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029" y="3933825"/>
            <a:ext cx="5955742" cy="266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45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C5AEE3-22F3-5190-DED5-777CAE3A4D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/>
          </a:bodyPr>
          <a:lstStyle/>
          <a:p>
            <a:r>
              <a:rPr lang="zh-CN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实验结果</a:t>
            </a:r>
            <a:r>
              <a:rPr lang="en-US" altLang="zh-CN" sz="24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-REVERIE &amp; </a:t>
            </a:r>
            <a:r>
              <a:rPr lang="en-US" altLang="zh-CN" sz="2400" b="1" dirty="0" err="1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RxR</a:t>
            </a:r>
            <a:r>
              <a:rPr lang="zh-CN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（远程指向与复杂指令）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40DC671-ACA0-EAA1-4171-058600C77E21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38" y="1825622"/>
            <a:ext cx="11736387" cy="411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40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F774722-BCD7-C404-2848-960B8C74A23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None/>
            </a:pPr>
            <a:r>
              <a:rPr lang="zh-CN" altLang="en-US" sz="2800" dirty="0"/>
              <a:t>核心模块消融（</a:t>
            </a:r>
            <a:r>
              <a:rPr lang="en" altLang="zh-CN" sz="2800" dirty="0"/>
              <a:t>LS/OE</a:t>
            </a:r>
            <a:r>
              <a:rPr lang="zh-CN" altLang="en" sz="2800" dirty="0"/>
              <a:t>）： </a:t>
            </a:r>
            <a:r>
              <a:rPr lang="zh-CN" altLang="en-US" sz="2800" dirty="0"/>
              <a:t>在不同基线（</a:t>
            </a:r>
            <a:r>
              <a:rPr lang="en" altLang="zh-CN" sz="2800" dirty="0"/>
              <a:t>HAMT</a:t>
            </a:r>
            <a:r>
              <a:rPr lang="zh-CN" altLang="en" sz="2800" dirty="0"/>
              <a:t>、</a:t>
            </a:r>
            <a:r>
              <a:rPr lang="en" altLang="zh-CN" sz="2800" dirty="0"/>
              <a:t>DUET</a:t>
            </a:r>
            <a:r>
              <a:rPr lang="zh-CN" altLang="en" sz="2800" dirty="0"/>
              <a:t>）</a:t>
            </a:r>
            <a:r>
              <a:rPr lang="zh-CN" altLang="en-US" sz="2800" dirty="0"/>
              <a:t>和不同数据集（</a:t>
            </a:r>
            <a:r>
              <a:rPr lang="en" altLang="zh-CN" sz="2800" dirty="0"/>
              <a:t>R2R</a:t>
            </a:r>
            <a:r>
              <a:rPr lang="zh-CN" altLang="en" sz="2800" dirty="0"/>
              <a:t>、</a:t>
            </a:r>
            <a:r>
              <a:rPr lang="en" altLang="zh-CN" sz="2800" dirty="0"/>
              <a:t>REVERIE</a:t>
            </a:r>
            <a:r>
              <a:rPr lang="zh-CN" altLang="en" sz="2800" dirty="0"/>
              <a:t>）</a:t>
            </a:r>
            <a:r>
              <a:rPr lang="zh-CN" altLang="en-US" sz="2800" dirty="0"/>
              <a:t>上，“仅加 </a:t>
            </a:r>
            <a:r>
              <a:rPr lang="en" altLang="zh-CN" sz="2800" dirty="0"/>
              <a:t>LS”</a:t>
            </a:r>
            <a:r>
              <a:rPr lang="zh-CN" altLang="en-US" sz="2800" dirty="0"/>
              <a:t>相对原始基线普遍带来 </a:t>
            </a:r>
            <a:r>
              <a:rPr lang="en-US" altLang="zh-CN" sz="2800" dirty="0"/>
              <a:t>~0.8% </a:t>
            </a:r>
            <a:r>
              <a:rPr lang="en" altLang="zh-CN" sz="2800" dirty="0"/>
              <a:t>SPL </a:t>
            </a:r>
            <a:r>
              <a:rPr lang="zh-CN" altLang="en-US" sz="2800" dirty="0"/>
              <a:t>增益；进一步引入观测增强 </a:t>
            </a:r>
            <a:r>
              <a:rPr lang="en" altLang="zh-CN" sz="2800" dirty="0"/>
              <a:t>OE</a:t>
            </a:r>
            <a:r>
              <a:rPr lang="zh-CN" altLang="en-US" sz="2800" dirty="0"/>
              <a:t>后，所有指标继续上升，证明“先验纠正 </a:t>
            </a:r>
            <a:r>
              <a:rPr lang="en-US" altLang="zh-CN" sz="2800" dirty="0"/>
              <a:t>+ </a:t>
            </a:r>
            <a:r>
              <a:rPr lang="zh-CN" altLang="en-US" sz="2800" dirty="0"/>
              <a:t>表征增强”的协同效果与可迁移性。细节消融（</a:t>
            </a:r>
            <a:r>
              <a:rPr lang="en" altLang="zh-CN" sz="2800" dirty="0"/>
              <a:t>Table VII</a:t>
            </a:r>
            <a:r>
              <a:rPr lang="zh-CN" altLang="en" sz="2800" dirty="0"/>
              <a:t>）：</a:t>
            </a:r>
            <a:endParaRPr lang="en-US" altLang="zh-CN" sz="2800" dirty="0"/>
          </a:p>
          <a:p>
            <a:pPr>
              <a:buNone/>
            </a:pPr>
            <a:r>
              <a:rPr lang="zh-CN" altLang="en" sz="2800" dirty="0"/>
              <a:t>（</a:t>
            </a:r>
            <a:r>
              <a:rPr lang="en" altLang="zh-CN" sz="2800" dirty="0"/>
              <a:t>1</a:t>
            </a:r>
            <a:r>
              <a:rPr lang="zh-CN" altLang="en" sz="2800" dirty="0"/>
              <a:t>）</a:t>
            </a:r>
            <a:r>
              <a:rPr lang="zh-CN" altLang="en-US" sz="2800" dirty="0"/>
              <a:t>共现数从 </a:t>
            </a:r>
            <a:r>
              <a:rPr lang="en-US" altLang="zh-CN" sz="2800" dirty="0"/>
              <a:t>0→5 </a:t>
            </a:r>
            <a:r>
              <a:rPr lang="zh-CN" altLang="en-US" sz="2800" dirty="0"/>
              <a:t>明显提升 </a:t>
            </a:r>
            <a:r>
              <a:rPr lang="en" altLang="zh-CN" sz="2800" dirty="0"/>
              <a:t>SR/SPL</a:t>
            </a:r>
            <a:r>
              <a:rPr lang="zh-CN" altLang="en" sz="2800" dirty="0"/>
              <a:t>，</a:t>
            </a:r>
            <a:r>
              <a:rPr lang="zh-CN" altLang="en-US" sz="2800" dirty="0"/>
              <a:t>但过多（</a:t>
            </a:r>
            <a:r>
              <a:rPr lang="en-US" altLang="zh-CN" sz="2800" dirty="0"/>
              <a:t>5/10</a:t>
            </a:r>
            <a:r>
              <a:rPr lang="zh-CN" altLang="en-US" sz="2800" dirty="0"/>
              <a:t>）会引入噪声；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）地标迁移优于 </a:t>
            </a:r>
            <a:r>
              <a:rPr lang="en" altLang="zh-CN" sz="2800" dirty="0"/>
              <a:t>Global</a:t>
            </a:r>
            <a:r>
              <a:rPr lang="zh-CN" altLang="en" sz="2800" dirty="0"/>
              <a:t>，</a:t>
            </a:r>
            <a:r>
              <a:rPr lang="zh-CN" altLang="en-US" sz="2800" dirty="0"/>
              <a:t>不同于一刀切的全局策略；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）特征融合以相加优于拼接；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4</a:t>
            </a:r>
            <a:r>
              <a:rPr lang="zh-CN" altLang="en-US" sz="2800" dirty="0"/>
              <a:t>）损失权重在合理范围下不敏感，当前设定最优；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5</a:t>
            </a:r>
            <a:r>
              <a:rPr lang="zh-CN" altLang="en-US" sz="2800" dirty="0"/>
              <a:t>）温度 </a:t>
            </a:r>
            <a:r>
              <a:rPr lang="el-GR" altLang="zh-CN" sz="2800" dirty="0"/>
              <a:t>τ≈0.5 </a:t>
            </a:r>
            <a:r>
              <a:rPr lang="zh-CN" altLang="en-US" sz="2800" dirty="0"/>
              <a:t>最稳健。整体消融为工程落地提供了清晰的“预算</a:t>
            </a:r>
            <a:r>
              <a:rPr lang="en-US" altLang="zh-CN" sz="2800" dirty="0"/>
              <a:t>‑</a:t>
            </a:r>
            <a:r>
              <a:rPr lang="zh-CN" altLang="en-US" sz="2800" dirty="0"/>
              <a:t>收益”曲线。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36D5A2-2CF2-CA29-5DE7-81A85306E8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8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消融研究</a:t>
            </a:r>
          </a:p>
        </p:txBody>
      </p:sp>
    </p:spTree>
    <p:extLst>
      <p:ext uri="{BB962C8B-B14F-4D97-AF65-F5344CB8AC3E}">
        <p14:creationId xmlns:p14="http://schemas.microsoft.com/office/powerpoint/2010/main" val="3854869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7F4156D-8F05-9EB4-6BFA-895CED6934A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2800" dirty="0"/>
              <a:t>作者系统比较了 </a:t>
            </a:r>
            <a:r>
              <a:rPr lang="en" altLang="zh-CN" sz="2800" dirty="0"/>
              <a:t>ChatGPT</a:t>
            </a:r>
            <a:r>
              <a:rPr lang="zh-CN" altLang="en" sz="2800" dirty="0"/>
              <a:t>、</a:t>
            </a:r>
            <a:r>
              <a:rPr lang="en" altLang="zh-CN" sz="2800" dirty="0"/>
              <a:t>GPT‑3</a:t>
            </a:r>
            <a:r>
              <a:rPr lang="zh-CN" altLang="en" sz="2800" dirty="0"/>
              <a:t>、</a:t>
            </a:r>
            <a:r>
              <a:rPr lang="en" altLang="zh-CN" sz="2800" dirty="0"/>
              <a:t>Vicuna‑13B/7B </a:t>
            </a:r>
            <a:r>
              <a:rPr lang="zh-CN" altLang="en-US" sz="2800" dirty="0"/>
              <a:t>与 </a:t>
            </a:r>
            <a:r>
              <a:rPr lang="en" altLang="zh-CN" sz="2800" dirty="0"/>
              <a:t>Spacy </a:t>
            </a:r>
            <a:r>
              <a:rPr lang="zh-CN" altLang="en-US" sz="2800" dirty="0"/>
              <a:t>等工具在“顺序地标抽取”上的差异，并将所得结果输入相同后续模块：</a:t>
            </a:r>
            <a:endParaRPr lang="en-US" altLang="zh-CN" sz="2800" dirty="0"/>
          </a:p>
          <a:p>
            <a:r>
              <a:rPr lang="en" altLang="zh-CN" sz="2800" b="1" dirty="0"/>
              <a:t>Table VIII </a:t>
            </a:r>
            <a:r>
              <a:rPr lang="zh-CN" altLang="en-US" sz="2800" b="1" dirty="0"/>
              <a:t>定量</a:t>
            </a:r>
            <a:r>
              <a:rPr lang="zh-CN" altLang="en-US" sz="2800" dirty="0"/>
              <a:t>显示 </a:t>
            </a:r>
            <a:r>
              <a:rPr lang="en" altLang="zh-CN" sz="2800" dirty="0"/>
              <a:t>ChatGPT </a:t>
            </a:r>
            <a:r>
              <a:rPr lang="zh-CN" altLang="en-US" sz="2800" dirty="0"/>
              <a:t>多指标领先，</a:t>
            </a:r>
            <a:r>
              <a:rPr lang="en" altLang="zh-CN" sz="2800" dirty="0"/>
              <a:t>Vicuna‑13B/7B </a:t>
            </a:r>
            <a:r>
              <a:rPr lang="zh-CN" altLang="en-US" sz="2800" dirty="0"/>
              <a:t>次之（</a:t>
            </a:r>
            <a:r>
              <a:rPr lang="en-US" altLang="zh-CN" sz="2800" dirty="0"/>
              <a:t>13</a:t>
            </a:r>
            <a:r>
              <a:rPr lang="en" altLang="zh-CN" sz="2800" dirty="0"/>
              <a:t>B </a:t>
            </a:r>
            <a:r>
              <a:rPr lang="zh-CN" altLang="en-US" sz="2800" dirty="0"/>
              <a:t>明显强于 </a:t>
            </a:r>
            <a:r>
              <a:rPr lang="en-US" altLang="zh-CN" sz="2800" dirty="0"/>
              <a:t>7</a:t>
            </a:r>
            <a:r>
              <a:rPr lang="en" altLang="zh-CN" sz="2800" dirty="0"/>
              <a:t>B</a:t>
            </a:r>
            <a:r>
              <a:rPr lang="zh-CN" altLang="en" sz="2800" dirty="0"/>
              <a:t>），</a:t>
            </a:r>
            <a:r>
              <a:rPr lang="en" altLang="zh-CN" sz="2800" dirty="0"/>
              <a:t>GPT‑3 </a:t>
            </a:r>
            <a:r>
              <a:rPr lang="zh-CN" altLang="en-US" sz="2800" dirty="0"/>
              <a:t>略弱，</a:t>
            </a:r>
            <a:r>
              <a:rPr lang="en" altLang="zh-CN" sz="2800" dirty="0"/>
              <a:t>Spacy </a:t>
            </a:r>
            <a:r>
              <a:rPr lang="zh-CN" altLang="en-US" sz="2800" dirty="0"/>
              <a:t>最差；</a:t>
            </a:r>
            <a:endParaRPr lang="en-US" altLang="zh-CN" sz="2800" dirty="0"/>
          </a:p>
          <a:p>
            <a:r>
              <a:rPr lang="en" altLang="zh-CN" sz="2800" b="1" dirty="0"/>
              <a:t>Fig.7 </a:t>
            </a:r>
            <a:r>
              <a:rPr lang="zh-CN" altLang="en-US" sz="2800" b="1" dirty="0"/>
              <a:t>定性</a:t>
            </a:r>
            <a:r>
              <a:rPr lang="zh-CN" altLang="en-US" sz="2800" dirty="0"/>
              <a:t>进一步揭示错误模式：</a:t>
            </a:r>
            <a:r>
              <a:rPr lang="en" altLang="zh-CN" sz="2800" dirty="0"/>
              <a:t>Vicuna </a:t>
            </a:r>
            <a:r>
              <a:rPr lang="zh-CN" altLang="en-US" sz="2800" dirty="0"/>
              <a:t>常见顺序混乱，</a:t>
            </a:r>
            <a:r>
              <a:rPr lang="en" altLang="zh-CN" sz="2800" dirty="0"/>
              <a:t>GPT‑3 </a:t>
            </a:r>
            <a:r>
              <a:rPr lang="zh-CN" altLang="en-US" sz="2800" dirty="0"/>
              <a:t>在细粒度地标上易“抽粗”，</a:t>
            </a:r>
            <a:r>
              <a:rPr lang="en" altLang="zh-CN" sz="2800" dirty="0"/>
              <a:t>Spacy </a:t>
            </a:r>
            <a:r>
              <a:rPr lang="zh-CN" altLang="en-US" sz="2800" dirty="0"/>
              <a:t>则混入大量噪声或文本顺序。该比较强调：高质量、可控的顺序地标与可见共现是性能提升的关键，而并非“模型越大越好”，成本</a:t>
            </a:r>
            <a:r>
              <a:rPr lang="en-US" altLang="zh-CN" sz="2800" dirty="0"/>
              <a:t>‑</a:t>
            </a:r>
            <a:r>
              <a:rPr lang="zh-CN" altLang="en-US" sz="2800" dirty="0"/>
              <a:t>性能需结合任务定制与纠错机制共同优化。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C4A268-C2B9-B8A4-5BC9-A8677323AD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8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实验结果</a:t>
            </a:r>
          </a:p>
        </p:txBody>
      </p:sp>
      <p:pic>
        <p:nvPicPr>
          <p:cNvPr id="5" name="图片占位符 4" descr="一些文字和图片的手机截图&#10;&#10;AI 生成的内容可能不正确。">
            <a:extLst>
              <a:ext uri="{FF2B5EF4-FFF2-40B4-BE49-F238E27FC236}">
                <a16:creationId xmlns:a16="http://schemas.microsoft.com/office/drawing/2014/main" id="{7A121559-E0AB-7062-32A8-207367C16A6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64" r="-2524" b="-616"/>
          <a:stretch>
            <a:fillRect/>
          </a:stretch>
        </p:blipFill>
        <p:spPr>
          <a:xfrm>
            <a:off x="5878513" y="981075"/>
            <a:ext cx="5903912" cy="567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459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B8AD490-E7A0-41D8-A973-09ACC5B2A93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不足：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）先验依赖 </a:t>
            </a:r>
            <a:r>
              <a:rPr lang="en" altLang="zh-CN" sz="2800" dirty="0"/>
              <a:t>LLM </a:t>
            </a:r>
            <a:r>
              <a:rPr lang="zh-CN" altLang="en-US" sz="2800" dirty="0"/>
              <a:t>的提示与示例，存在域外知识偏差与长尾词表覆盖不足；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）共现先验在极端场景（稀有房间构成、遮挡严重）仍可能失效，需要更多“在线”视觉证据；（</a:t>
            </a:r>
            <a:r>
              <a:rPr lang="en-US" altLang="zh-CN" sz="2800" dirty="0"/>
              <a:t>3</a:t>
            </a:r>
            <a:r>
              <a:rPr lang="zh-CN" altLang="en-US" sz="2800" dirty="0"/>
              <a:t>）当前以室内 </a:t>
            </a:r>
            <a:r>
              <a:rPr lang="en" altLang="zh-CN" sz="2800" dirty="0"/>
              <a:t>VLN </a:t>
            </a:r>
            <a:r>
              <a:rPr lang="zh-CN" altLang="en-US" sz="2800" dirty="0"/>
              <a:t>为主，向移动机器人（无人车</a:t>
            </a:r>
            <a:r>
              <a:rPr lang="en-US" altLang="zh-CN" sz="2800" dirty="0"/>
              <a:t>/</a:t>
            </a:r>
            <a:r>
              <a:rPr lang="zh-CN" altLang="en-US" sz="2800" dirty="0"/>
              <a:t>无人机）的复杂动力学、传感噪声与安全约束迁移仍需额外设计；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4</a:t>
            </a:r>
            <a:r>
              <a:rPr lang="zh-CN" altLang="en-US" sz="2800" dirty="0"/>
              <a:t>）</a:t>
            </a:r>
            <a:r>
              <a:rPr lang="en" altLang="zh-CN" sz="2800" dirty="0"/>
              <a:t>CLIP </a:t>
            </a:r>
            <a:r>
              <a:rPr lang="zh-CN" altLang="en-US" sz="2800" dirty="0"/>
              <a:t>文本模板（如“</a:t>
            </a:r>
            <a:r>
              <a:rPr lang="en" altLang="zh-CN" sz="2800" dirty="0"/>
              <a:t>a photo of a”</a:t>
            </a:r>
            <a:r>
              <a:rPr lang="zh-CN" altLang="en" sz="2800" dirty="0"/>
              <a:t>）</a:t>
            </a:r>
            <a:r>
              <a:rPr lang="zh-CN" altLang="en-US" sz="2800" dirty="0"/>
              <a:t>与 </a:t>
            </a:r>
            <a:r>
              <a:rPr lang="en" altLang="zh-CN" sz="2800" dirty="0"/>
              <a:t>ViT‑B/32 </a:t>
            </a:r>
            <a:r>
              <a:rPr lang="zh-CN" altLang="en-US" sz="2800" dirty="0"/>
              <a:t>特征是既定实现选择，可能限制上限。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未来：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）研究</a:t>
            </a:r>
            <a:r>
              <a:rPr lang="zh-CN" altLang="en-US" sz="2800" b="1" dirty="0"/>
              <a:t>更低成本</a:t>
            </a:r>
            <a:r>
              <a:rPr lang="zh-CN" altLang="en-US" sz="2800" dirty="0"/>
              <a:t>的 </a:t>
            </a:r>
            <a:r>
              <a:rPr lang="en" altLang="zh-CN" sz="2800" dirty="0"/>
              <a:t>LLM </a:t>
            </a:r>
            <a:r>
              <a:rPr lang="zh-CN" altLang="en-US" sz="2800" dirty="0"/>
              <a:t>替代与指令</a:t>
            </a:r>
            <a:r>
              <a:rPr lang="en-US" altLang="zh-CN" sz="2800" dirty="0"/>
              <a:t>‑</a:t>
            </a:r>
            <a:r>
              <a:rPr lang="zh-CN" altLang="en-US" sz="2800" dirty="0"/>
              <a:t>地标领域预训练；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）引入</a:t>
            </a:r>
            <a:r>
              <a:rPr lang="zh-CN" altLang="en-US" sz="2800" b="1" dirty="0"/>
              <a:t>自监督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合成数据</a:t>
            </a:r>
            <a:r>
              <a:rPr lang="zh-CN" altLang="en-US" sz="2800" dirty="0"/>
              <a:t>提升地标与共现的可见性与可迁移性；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）把“可纠正地标”扩展到</a:t>
            </a:r>
            <a:r>
              <a:rPr lang="en-US" altLang="zh-CN" sz="2800" b="1" dirty="0"/>
              <a:t>3</a:t>
            </a:r>
            <a:r>
              <a:rPr lang="en" altLang="zh-CN" sz="2800" b="1" dirty="0"/>
              <a:t>D </a:t>
            </a:r>
            <a:r>
              <a:rPr lang="zh-CN" altLang="en-US" sz="2800" b="1" dirty="0"/>
              <a:t>场景图与拓扑图</a:t>
            </a:r>
            <a:r>
              <a:rPr lang="zh-CN" altLang="en-US" sz="2800" dirty="0"/>
              <a:t>，支持跨模态</a:t>
            </a:r>
            <a:r>
              <a:rPr lang="en-US" altLang="zh-CN" sz="2800" dirty="0"/>
              <a:t>/</a:t>
            </a:r>
            <a:r>
              <a:rPr lang="zh-CN" altLang="en-US" sz="2800" dirty="0"/>
              <a:t>跨平台共享；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4</a:t>
            </a:r>
            <a:r>
              <a:rPr lang="zh-CN" altLang="en-US" sz="2800" dirty="0"/>
              <a:t>）把一致性约束与</a:t>
            </a:r>
            <a:r>
              <a:rPr lang="zh-CN" altLang="en-US" sz="2800" b="1" dirty="0"/>
              <a:t>不确定性估计</a:t>
            </a:r>
            <a:r>
              <a:rPr lang="zh-CN" altLang="en-US" sz="2800" dirty="0"/>
              <a:t>结合，面向安全关键导航。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DFA8BC-259A-5C79-AB02-C31D9FE841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8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讨论</a:t>
            </a:r>
          </a:p>
        </p:txBody>
      </p:sp>
    </p:spTree>
    <p:extLst>
      <p:ext uri="{BB962C8B-B14F-4D97-AF65-F5344CB8AC3E}">
        <p14:creationId xmlns:p14="http://schemas.microsoft.com/office/powerpoint/2010/main" val="937514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D01B313-A068-6DFB-A6D5-848A2A08EBB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新颖视角 </a:t>
            </a:r>
            <a:r>
              <a:rPr lang="en-US" altLang="zh-CN" sz="2000" dirty="0"/>
              <a:t>(Perspective): </a:t>
            </a:r>
            <a:r>
              <a:rPr lang="zh-CN" altLang="en-US" sz="2000" dirty="0"/>
              <a:t>本文提出 </a:t>
            </a:r>
            <a:r>
              <a:rPr lang="en-US" altLang="zh-CN" sz="2000" dirty="0"/>
              <a:t>CONSOLE </a:t>
            </a:r>
            <a:r>
              <a:rPr lang="zh-CN" altLang="en-US" sz="2000" dirty="0"/>
              <a:t>框架，将视觉语言导航（</a:t>
            </a:r>
            <a:r>
              <a:rPr lang="en-US" altLang="zh-CN" sz="2000" dirty="0"/>
              <a:t>VLN</a:t>
            </a:r>
            <a:r>
              <a:rPr lang="zh-CN" altLang="en-US" sz="2000" dirty="0"/>
              <a:t>）创新性地建模为开放世界下的顺序地标发现问题。</a:t>
            </a:r>
          </a:p>
          <a:p>
            <a:endParaRPr lang="zh-CN" altLang="en-US" sz="2000" dirty="0"/>
          </a:p>
          <a:p>
            <a:r>
              <a:rPr lang="zh-CN" altLang="en-US" sz="2000" dirty="0"/>
              <a:t>核心架构 </a:t>
            </a:r>
            <a:r>
              <a:rPr lang="en-US" altLang="zh-CN" sz="2000" dirty="0"/>
              <a:t>(Framework): </a:t>
            </a:r>
            <a:r>
              <a:rPr lang="zh-CN" altLang="en-US" sz="2000" dirty="0"/>
              <a:t>引入由双大模型驱动的可修正地标发现框架</a:t>
            </a:r>
            <a:r>
              <a:rPr lang="en-US" altLang="zh-CN" sz="2000" dirty="0"/>
              <a:t>——</a:t>
            </a:r>
            <a:r>
              <a:rPr lang="zh-CN" altLang="en-US" sz="2000" dirty="0"/>
              <a:t>利用 </a:t>
            </a:r>
            <a:r>
              <a:rPr lang="en-US" altLang="zh-CN" sz="2000" dirty="0"/>
              <a:t>ChatGPT </a:t>
            </a:r>
            <a:r>
              <a:rPr lang="zh-CN" altLang="en-US" sz="2000" dirty="0"/>
              <a:t>挖掘丰富的地标共现常识，并结合 </a:t>
            </a:r>
            <a:r>
              <a:rPr lang="en-US" altLang="zh-CN" sz="2000" dirty="0"/>
              <a:t>CLIP </a:t>
            </a:r>
            <a:r>
              <a:rPr lang="zh-CN" altLang="en-US" sz="2000" dirty="0"/>
              <a:t>进行跨模态地标定位。</a:t>
            </a:r>
          </a:p>
          <a:p>
            <a:endParaRPr lang="zh-CN" altLang="en-US" sz="2000" dirty="0"/>
          </a:p>
          <a:p>
            <a:r>
              <a:rPr lang="zh-CN" altLang="en-US" sz="2000" dirty="0"/>
              <a:t>动态修正 </a:t>
            </a:r>
            <a:r>
              <a:rPr lang="en-US" altLang="zh-CN" sz="2000" dirty="0"/>
              <a:t>(Correction): </a:t>
            </a:r>
            <a:r>
              <a:rPr lang="zh-CN" altLang="en-US" sz="2000" dirty="0"/>
              <a:t>构建可学习的共现评分模块，通过实时环境观测动态修正 </a:t>
            </a:r>
            <a:r>
              <a:rPr lang="en-US" altLang="zh-CN" sz="2000" dirty="0"/>
              <a:t>ChatGPT </a:t>
            </a:r>
            <a:r>
              <a:rPr lang="zh-CN" altLang="en-US" sz="2000" dirty="0"/>
              <a:t>的先验常识，提升导航决策的准确性。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3FBCEC-CAD6-A0E0-ED63-4DF2D37198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800" b="1" dirty="0">
                <a:solidFill>
                  <a:prstClr val="black">
                    <a:lumMod val="65000"/>
                    <a:lumOff val="35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讨论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2807A828-3AF1-AC66-02A8-2F94140FAB9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949950" y="2322512"/>
            <a:ext cx="59055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677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56837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e60b31f6-63ec-4181-8b1c-56fa4715f280"/>
  <p:tag name="COMMONDATA" val="eyJoZGlkIjoiYjZjMTcyMWY1M2RiYmI2OGE1OGQwYTY4OThjMzVkMTYifQ=="/>
</p:tagLst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Inter" panose="020F0302020204030204"/>
        <a:ea typeface="Source Han Sans CN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 panose="020F0502020204030204"/>
        <a:ea typeface="Source Han Sans CN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</TotalTime>
  <Words>1911</Words>
  <Application>Microsoft Office PowerPoint</Application>
  <PresentationFormat>自定义</PresentationFormat>
  <Paragraphs>72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HelveticaNeue Regular</vt:lpstr>
      <vt:lpstr>Inter</vt:lpstr>
      <vt:lpstr>等线</vt:lpstr>
      <vt:lpstr>Microsoft YaHei</vt:lpstr>
      <vt:lpstr>Microsoft YaHei</vt:lpstr>
      <vt:lpstr>Arial</vt:lpstr>
      <vt:lpstr>Times New Roman</vt:lpstr>
      <vt:lpstr>Wingdings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http:/www.ypppt.com</cp:keywords>
  <cp:lastModifiedBy>xiaohan wu</cp:lastModifiedBy>
  <cp:revision>40</cp:revision>
  <dcterms:created xsi:type="dcterms:W3CDTF">2018-04-25T07:52:00Z</dcterms:created>
  <dcterms:modified xsi:type="dcterms:W3CDTF">2026-05-27T11:47:54Z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2</vt:lpwstr>
  </property>
  <property fmtid="{D5CDD505-2E9C-101B-9397-08002B2CF9AE}" pid="3" name="KSOProductBuildVer">
    <vt:lpwstr>2052-12.1.0.18276</vt:lpwstr>
  </property>
  <property fmtid="{D5CDD505-2E9C-101B-9397-08002B2CF9AE}" pid="4" name="ICV">
    <vt:lpwstr>484358E99EC946D6B8A0C0F1C714EE37_13</vt:lpwstr>
  </property>
</Properties>
</file>